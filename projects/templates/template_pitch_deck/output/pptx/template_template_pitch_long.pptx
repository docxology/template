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Opening: name the audience explicitly — meta-science / science-integrity groups, not general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 — leave contact/repo pointer to the resolved GitHub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docxology/template/blob/main/projects/templates/template_pitch_deck/output/slides_standalone/template_template_long/slide_01.md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github.com/docxology/template/blob/main/projects/templates/template_pitch_deck/output/slides_standalone/template_template_long/slide_02.md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github.com/docxology/template/blob/main/projects/templates/template_pitch_deck/output/slides_standalone/template_template_long/slide_03.md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github.com/docxology/template/blob/main/projects/templates/template_pitch_deck/output/slides_standalone/template_template_long/slide_04.m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github.com/docxology/template/blob/main/projects/templates/template_pitch_deck/output/slides_standalone/template_template_long/slide_05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github.com/docxology/template/blob/main/projects/templates/template_pitch_deck/output/slides_standalone/template_template_long/slide_06.m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infrastructure/project/public_scope.py" TargetMode="External"/><Relationship Id="rId3" Type="http://schemas.openxmlformats.org/officeDocument/2006/relationships/image" Target="../media/image7.png"/><Relationship Id="rId4" Type="http://schemas.openxmlformats.org/officeDocument/2006/relationships/hyperlink" Target="https://github.com/docxology/template/blob/main/projects/templates/template_pitch_deck/output/slides_standalone/template_template_long/slide_07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README.md" TargetMode="External"/><Relationship Id="rId3" Type="http://schemas.openxmlformats.org/officeDocument/2006/relationships/image" Target="../media/image8.png"/><Relationship Id="rId4" Type="http://schemas.openxmlformats.org/officeDocument/2006/relationships/hyperlink" Target="https://github.com/docxology/template/blob/main/projects/templates/template_pitch_deck/output/slides_standalone/template_template_long/slide_08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hyperlink" Target="https://github.com/docxology/template/blob/main/projects/templates/template_pitch_deck/output/slides_standalone/template_template_long/slide_09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hyperlink" Target="https://github.com/docxology/template/blob/main/projects/templates/template_pitch_deck/output/slides_standalone/template_template_long/slide_10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docxology/template/blob/main/projects/templates/template_pitch_deck/output/slides_standalone/template_template_long/slide_11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github.com/docxology/template/blob/main/projects/templates/template_pitch_deck/output/slides_standalone/template_template_long/slide_12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github.com/docxology/template/blob/main/projects/templates/template_pitch_deck/output/slides_standalone/template_template_long/slide_13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github.com/docxology/template/blob/main/projects/templates/template_pitch_deck/output/slides_standalone/template_template_long/slide_14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github.com/docxology/template/blob/main/CLAUDE.md" TargetMode="External"/><Relationship Id="rId4" Type="http://schemas.openxmlformats.org/officeDocument/2006/relationships/image" Target="../media/image17.png"/><Relationship Id="rId5" Type="http://schemas.openxmlformats.org/officeDocument/2006/relationships/hyperlink" Target="https://github.com/docxology/template/blob/main/projects/templates/template_pitch_deck/output/slides_standalone/template_template_long/slide_15.md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https://github.com/docxology/template/blob/main/projects/templates/template_pitch_deck/output/slides_standalone/template_template_long/slide_16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hyperlink" Target="https://github.com/docxology/template/blob/main/projects/templates/template_pitch_deck/output/slides_standalone/template_template_long/slide_17.md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src/template_template" TargetMode="External"/><Relationship Id="rId3" Type="http://schemas.openxmlformats.org/officeDocument/2006/relationships/image" Target="../media/image20.png"/><Relationship Id="rId4" Type="http://schemas.openxmlformats.org/officeDocument/2006/relationships/hyperlink" Target="https://github.com/docxology/template/blob/main/projects/templates/template_pitch_deck/output/slides_standalone/template_template_long/slide_18.m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hyperlink" Target="https://github.com/docxology/template/blob/main/projects/templates/template_pitch_deck/output/slides_standalone/template_template_long/slide_19.md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hyperlink" Target="https://github.com/docxology/template/blob/main/projects/templates/template_pitch_deck/output/slides_standalone/template_template_long/slide_20.m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23.png"/><Relationship Id="rId4" Type="http://schemas.openxmlformats.org/officeDocument/2006/relationships/hyperlink" Target="https://github.com/docxology/template/blob/main/projects/templates/template_pitch_deck/output/slides_standalone/template_template_long/slide_21.md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24.png"/><Relationship Id="rId4" Type="http://schemas.openxmlformats.org/officeDocument/2006/relationships/hyperlink" Target="https://github.com/docxology/template/blob/main/projects/templates/template_pitch_deck/output/slides_standalone/template_template_long/slide_22.md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deck_tokens.py" TargetMode="External"/><Relationship Id="rId3" Type="http://schemas.openxmlformats.org/officeDocument/2006/relationships/image" Target="../media/image25.png"/><Relationship Id="rId4" Type="http://schemas.openxmlformats.org/officeDocument/2006/relationships/hyperlink" Target="https://github.com/docxology/template/blob/main/projects/templates/template_pitch_deck/output/slides_standalone/template_template_long/slide_23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https://github.com/docxology/template/blob/main/projects/templates/template_pitch_deck/output/slides_standalone/template_template_long/slide_24.md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27.png"/><Relationship Id="rId4" Type="http://schemas.openxmlformats.org/officeDocument/2006/relationships/hyperlink" Target="https://github.com/docxology/template/blob/main/projects/templates/template_pitch_deck/output/slides_standalone/template_template_long/slide_25.md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active_projects.md" TargetMode="External"/><Relationship Id="rId3" Type="http://schemas.openxmlformats.org/officeDocument/2006/relationships/image" Target="../media/image28.png"/><Relationship Id="rId4" Type="http://schemas.openxmlformats.org/officeDocument/2006/relationships/hyperlink" Target="https://github.com/docxology/template/blob/main/projects/templates/template_pitch_deck/output/slides_standalone/template_template_long/slide_26.md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hyperlink" Target="https://github.com/docxology/template/blob/main/projects/templates/template_pitch_deck/output/slides_standalone/template_template_long/slide_27.md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hyperlink" Target="https://github.com/docxology/template/blob/main/projects/templates/template_pitch_deck/output/slides_standalone/template_template_long/slide_28.md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hyperlink" Target="https://github.com/docxology/template/blob/main/projects/templates/template_pitch_deck/output/slides_standalone/template_template_long/slide_29.md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hyperlink" Target="https://github.com/docxology/template/blob/main/projects/templates/template_pitch_deck/output/slides_standalone/template_template_long/slide_30.md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hyperlink" Target="https://github.com/docxology/template/blob/main/projects/templates/template_pitch_deck/output/slides_standalone/template_template_long/slide_31.md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hyperlink" Target="https://github.com/docxology/template/blob/main/projects/templates/template_pitch_deck/output/slides_standalone/template_template_long/slide_32.md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hyperlink" Target="https://github.com/docxology/template/blob/main/projects/templates/template_pitch_deck/output/slides_standalone/template_template_long/slide_33.md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hyperlink" Target="https://github.com/docxology/template/blob/main/projects/templates/template_pitch_deck/output/slides_standalone/template_template_long/slide_34.md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tests/infra_tests/rendering/test_slide_deck.py" TargetMode="External"/><Relationship Id="rId3" Type="http://schemas.openxmlformats.org/officeDocument/2006/relationships/image" Target="../media/image37.png"/><Relationship Id="rId4" Type="http://schemas.openxmlformats.org/officeDocument/2006/relationships/hyperlink" Target="https://github.com/docxology/template/blob/main/projects/templates/template_pitch_deck/output/slides_standalone/template_template_long/slide_35.md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hyperlink" Target="https://github.com/docxology/template/blob/main/projects/templates/template_pitch_deck/src/template_pitch_deck/token_resolution.py" TargetMode="External"/><Relationship Id="rId4" Type="http://schemas.openxmlformats.org/officeDocument/2006/relationships/image" Target="../media/image39.png"/><Relationship Id="rId5" Type="http://schemas.openxmlformats.org/officeDocument/2006/relationships/hyperlink" Target="https://github.com/docxology/template/blob/main/projects/templates/template_pitch_deck/output/slides_standalone/template_template_long/slide_36.md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diligence_audit.py" TargetMode="External"/><Relationship Id="rId3" Type="http://schemas.openxmlformats.org/officeDocument/2006/relationships/image" Target="../media/image40.png"/><Relationship Id="rId4" Type="http://schemas.openxmlformats.org/officeDocument/2006/relationships/hyperlink" Target="https://github.com/docxology/template/blob/main/projects/templates/template_pitch_deck/output/slides_standalone/template_template_long/slide_37.md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cripts/10_audit_deck_content.py" TargetMode="External"/><Relationship Id="rId3" Type="http://schemas.openxmlformats.org/officeDocument/2006/relationships/image" Target="../media/image41.png"/><Relationship Id="rId4" Type="http://schemas.openxmlformats.org/officeDocument/2006/relationships/hyperlink" Target="https://github.com/docxology/template/blob/main/projects/templates/template_pitch_deck/output/slides_standalone/template_template_long/slide_38.md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docs/_generated/COUNTS.md" TargetMode="External"/><Relationship Id="rId3" Type="http://schemas.openxmlformats.org/officeDocument/2006/relationships/image" Target="../media/image42.png"/><Relationship Id="rId4" Type="http://schemas.openxmlformats.org/officeDocument/2006/relationships/hyperlink" Target="https://github.com/docxology/template/blob/main/projects/templates/template_pitch_deck/output/slides_standalone/template_template_long/slide_39.md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44.png"/><Relationship Id="rId5" Type="http://schemas.openxmlformats.org/officeDocument/2006/relationships/hyperlink" Target="https://github.com/docxology/template/blob/main/projects/templates/template_pitch_deck/output/slides_standalone/template_template_long/slide_40.md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hyperlink" Target="https://github.com/docxology/template/blob/main/docs/_generated/COUNTS.md" TargetMode="External"/><Relationship Id="rId4" Type="http://schemas.openxmlformats.org/officeDocument/2006/relationships/image" Target="../media/image46.png"/><Relationship Id="rId5" Type="http://schemas.openxmlformats.org/officeDocument/2006/relationships/hyperlink" Target="https://github.com/docxology/template/blob/main/projects/templates/template_pitch_deck/output/slides_standalone/template_template_long/slide_41.md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diligence_audit.py" TargetMode="External"/><Relationship Id="rId3" Type="http://schemas.openxmlformats.org/officeDocument/2006/relationships/image" Target="../media/image47.png"/><Relationship Id="rId4" Type="http://schemas.openxmlformats.org/officeDocument/2006/relationships/hyperlink" Target="https://github.com/docxology/template/blob/main/projects/templates/template_pitch_deck/output/slides_standalone/template_template_long/slide_42.md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standalone_slides.py" TargetMode="External"/><Relationship Id="rId3" Type="http://schemas.openxmlformats.org/officeDocument/2006/relationships/image" Target="../media/image48.png"/><Relationship Id="rId4" Type="http://schemas.openxmlformats.org/officeDocument/2006/relationships/hyperlink" Target="https://github.com/docxology/template/blob/main/projects/templates/template_pitch_deck/output/slides_standalone/template_template_long/slide_43.md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manuscript/config.yaml" TargetMode="External"/><Relationship Id="rId3" Type="http://schemas.openxmlformats.org/officeDocument/2006/relationships/image" Target="../media/image49.png"/><Relationship Id="rId4" Type="http://schemas.openxmlformats.org/officeDocument/2006/relationships/hyperlink" Target="https://github.com/docxology/template/blob/main/projects/templates/template_pitch_deck/output/slides_standalone/template_template_long/slide_44.md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hyperlink" Target="https://github.com/docxology/template/blob/main/projects/templates/template_pitch_deck/output/slides_standalone/template_template_long/slide_45.md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pitch_deck/src/template_pitch_deck/infra_facts.py" TargetMode="External"/><Relationship Id="rId3" Type="http://schemas.openxmlformats.org/officeDocument/2006/relationships/image" Target="../media/image51.png"/><Relationship Id="rId4" Type="http://schemas.openxmlformats.org/officeDocument/2006/relationships/hyperlink" Target="https://github.com/docxology/template/blob/main/projects/templates/template_pitch_deck/output/slides_standalone/template_template_long/slide_46.md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hyperlink" Target="https://github.com/docxology/template/blob/main/projects/templates/template_pitch_deck/src/template_pitch_deck/infra_facts.py" TargetMode="External"/><Relationship Id="rId4" Type="http://schemas.openxmlformats.org/officeDocument/2006/relationships/image" Target="../media/image53.png"/><Relationship Id="rId5" Type="http://schemas.openxmlformats.org/officeDocument/2006/relationships/hyperlink" Target="https://github.com/docxology/template/blob/main/projects/templates/template_pitch_deck/output/slides_standalone/template_template_long/slide_47.md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hyperlink" Target="https://github.com/docxology/template/blob/main/projects/templates/template_pitch_deck/output/slides_standalone/template_template_long/slide_48.md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hyperlink" Target="https://github.com/docxology/template/blob/main/projects/templates/template_pitch_deck/output/slides_standalone/template_template_long/slide_49.md" TargetMode="Externa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hyperlink" Target="https://github.com/docxology/template/blob/main/projects/templates/template_pitch_deck/output/slides_standalone/template_template_long/slide_50.md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hyperlink" Target="https://github.com/docxology/template/blob/main/projects/templates/template_pitch_deck/output/slides_standalone/template_template_long/slide_51.md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hyperlink" Target="https://github.com/docxology/template/blob/main/projects/templates/template_pitch_deck/output/slides_standalone/template_template_long/slide_52.md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hyperlink" Target="https://github.com/docxology/template/blob/main/projects/templates/template_pitch_deck/output/slides_standalone/template_template_long/slide_53.md" TargetMode="Externa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hyperlink" Target="https://github.com/docxology/template/blob/main/projects/templates/template_pitch_deck/output/slides_standalone/template_template_long/slide_54.md" TargetMode="Externa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hyperlink" Target="https://github.com/docxology/template/blob/main/projects/templates/template_pitch_deck/output/slides_standalone/template_template_long/slide_55.md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ocxology/template/blob/main/projects/templates/template_template/manuscript/config.yaml" TargetMode="External"/><Relationship Id="rId3" Type="http://schemas.openxmlformats.org/officeDocument/2006/relationships/image" Target="../media/image62.png"/><Relationship Id="rId4" Type="http://schemas.openxmlformats.org/officeDocument/2006/relationships/hyperlink" Target="https://github.com/docxology/template/blob/main/projects/templates/template_pitch_deck/output/slides_standalone/template_template_long/slide_56.md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3.png"/><Relationship Id="rId4" Type="http://schemas.openxmlformats.org/officeDocument/2006/relationships/hyperlink" Target="https://github.com/docxology/template/blob/main/projects/templates/template_pitch_deck/output/slides_standalone/template_template_long/slide_57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A template/ approach to Reproducible Generative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Research groups publish claims about their own tools and pipelines that no</a:t>
            </a:r>
            <a:br/>
            <a:r>
              <a:t>one outside the team can re-check.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Manuscripts describing infrastructure go stale the moment the infrastructure</a:t>
            </a:r>
            <a:br/>
            <a:r>
              <a:t>changes underneath them.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Reproducibility efforts usually stop at the data and code layer — the</a:t>
            </a:r>
            <a:br/>
            <a:r>
              <a:t>documentation layer is still hand-maintained and drifts silently.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Helvetica"/>
              </a:rPr>
              <a:t>Why this is a science-integrity problem, not just a tooling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stale claim about infrastructure is a form of unverified evidence, structurally</a:t>
            </a:r>
            <a:br/>
            <a:r>
              <a:t>similar to an uncheckable statistic in a results section.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Peer review rarely re-derives a paper's own infrastructure description; it is</a:t>
            </a:r>
            <a:br/>
            <a:r>
              <a:t>trusted by default.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Meta-science groups exist precisely to close gaps like this — this deck is itself</a:t>
            </a:r>
            <a:br/>
            <a:r>
              <a:t>an instance of the pattern it is describing.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Landscape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Where meta-science tooling stands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Electronic lab notebooks and preregistration platforms address the experiment</a:t>
            </a:r>
            <a:br/>
            <a:r>
              <a:t>layer, not the infrastructure-description layer.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Literate-programming tools (R Markdown, Jupyter, Quarto) bind prose to code</a:t>
            </a:r>
            <a:br/>
            <a:r>
              <a:t>within one document, but rarely to a whole repository's live state.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Very few public examples exist of a manuscript that introspects and reports on</a:t>
            </a:r>
            <a:br/>
            <a:r>
              <a:t>the software system that produced it, at repository scale.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Adjacent practice this builds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Ten Simple Rules for Reproducible Computational Research (Sandve et al.,</a:t>
            </a:r>
            <a:br/>
            <a:r>
              <a:t>2013) — the base discipline of tracking exactly what produced each result.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Good Enough Practices in Scientific Computing (Wilson et al., 2017) — version</a:t>
            </a:r>
            <a:br/>
            <a:r>
              <a:t>control, testing, and modular code as baseline hygiene.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FAIR principles for research software (Lamprecht et al., 2020) — Findable,</a:t>
            </a:r>
            <a:br/>
            <a:r>
              <a:t>Accessible, Interoperable, Reusable, extended here to the manuscript layer</a:t>
            </a:r>
            <a:br/>
            <a:r>
              <a:t>itself.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template_template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manuscript that is generated FROM the repository it describes, not written</a:t>
            </a:r>
            <a:br/>
            <a:r>
              <a:t>ABOUT it from memory.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metric in the paper — module counts, test counts, pipeline stages — is</a:t>
            </a:r>
            <a:br/>
            <a:r>
              <a:t>computed live by template_template's own introspection code.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One of 25 public exemplar templates in the same monorepo, each</a:t>
            </a:r>
            <a:br/>
            <a:r>
              <a:t>independently tested and coverage-gated.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infrastructure/project/public_scope.py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554480"/>
            <a:ext cx="502920" cy="762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8138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i="1">
                <a:solidFill>
                  <a:srgbClr val="FFFFFF"/>
                </a:solidFill>
              </a:rPr>
              <a:t>“Autopoietic: the paper regenerates itself from the code it describes.”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474720"/>
            <a:ext cx="8138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B3131A"/>
                </a:solidFill>
              </a:rPr>
              <a:t>— template_template/README.md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projects/templates/template_template/README.md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How it works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Introspection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src/template_template/core/introspection.py discovers infrastructure/</a:t>
            </a:r>
            <a:br/>
            <a:r>
              <a:t>subpackages, the pipeline.yaml stage DAG, and the public exemplar roster.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scan reads the filesystem and YAML directly — it does not depend on any</a:t>
            </a:r>
            <a:br/>
            <a:r>
              <a:t>external service or cached snapshot.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Function-level entry points (discover_infrastructure_modules,</a:t>
            </a:r>
            <a:br/>
            <a:r>
              <a:t>discover_projects, load_pipeline_stages_from_yaml) each return typed, testable</a:t>
            </a:r>
            <a:br/>
            <a:r>
              <a:t>dataclasses.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metrics.py turns the introspection scan into a dictionary of ${variable} values —</a:t>
            </a:r>
            <a:br/>
            <a:r>
              <a:t>the same token convention used across every exemplar's manuscript.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build_manuscript_metrics_dict computes counts directly; nothing is</a:t>
            </a:r>
            <a:br/>
            <a:r>
              <a:t>copy-pasted from a prior run.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save_metrics_json persists the full dictionary to output/data/metrics.json for</a:t>
            </a:r>
            <a:br/>
            <a:r>
              <a:t>downstream inspection.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inject_metrics.py substitutes ${variable} values into manuscript/*.md, writing</a:t>
            </a:r>
            <a:br/>
            <a:r>
              <a:t>the resolved text to output/manuscript/ for rendering.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Unresolved tokens are never silently dropped — a missing variable is a build</a:t>
            </a:r>
            <a:br/>
            <a:r>
              <a:t>failure, not a blank space in the PDF.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Re-running the pipeline regenerates the paper from current repository state —</a:t>
            </a:r>
            <a:br/>
            <a:r>
              <a:t>the citation and the artifact cannot drift apart.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Four figures — architecture overview, pipeline stages, module inventory,</a:t>
            </a:r>
            <a:br/>
            <a:r>
              <a:t>comparative feature matrix — are generated from the same live data, not</a:t>
            </a:r>
            <a:br/>
            <a:r>
              <a:t>hand-drawn.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generate_architecture_viz.py orchestrates dedicated figure modules sharing</a:t>
            </a:r>
            <a:br/>
            <a:r>
              <a:t>one palette module, so the visual language stays consistent across all four.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Regenerating figures after a code change is one script call, not a redraw in an</a:t>
            </a:r>
            <a:br/>
            <a:r>
              <a:t>external tool.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Two-layer architecture, at a glance</a:t>
            </a:r>
          </a:p>
        </p:txBody>
      </p:sp>
      <p:pic>
        <p:nvPicPr>
          <p:cNvPr id="4" name="Picture 3" descr="two_layer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875" y="914400"/>
            <a:ext cx="2986249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The core pipeline, stage by stage</a:t>
            </a:r>
          </a:p>
        </p:txBody>
      </p:sp>
      <p:pic>
        <p:nvPicPr>
          <p:cNvPr id="4" name="Picture 3" descr="pipeline_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73946"/>
            <a:ext cx="8138159" cy="22961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CLAUDE.md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Two-layer architecture, in depth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Layer 1 — infrastructure/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Generic, reusable modules: rendering (PDF/HTML/PPTX/DOCX/EPUB),</a:t>
            </a:r>
            <a:br/>
            <a:r>
              <a:t>validation, publishing, provenance, security.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 project-specific logic lives here — a change to infrastructure/ affects every</a:t>
            </a:r>
            <a:br/>
            <a:r>
              <a:t>exemplar identically.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deck's own PDF/PPTX renderers (infrastructure/rendering/slide_deck.py,</a:t>
            </a:r>
            <a:br/>
            <a:r>
              <a:t>pptx_deck.py) are new additions to this same layer.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Layer 2 — projects/{name}/src/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2886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Each exemplar's own domain logic: template_template's introspection/metrics,</a:t>
            </a:r>
            <a:br/>
            <a:r>
              <a:t>a code-project's optimizer, this deck's own content loader and token/cliche</a:t>
            </a:r>
            <a:br/>
            <a:r>
              <a:t>validators.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Kept out of infrastructure/ by convention, enforced by an automated</a:t>
            </a:r>
            <a:br/>
            <a:r>
              <a:t>project/infrastructure-boundary drift check.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Thin orchestrator scripts (projects/{name}/scripts/) coordinate the two layers</a:t>
            </a:r>
            <a:br/>
            <a:r>
              <a:t>but implement no business logic themselves — a size/complexity gate enforces</a:t>
            </a:r>
            <a:br/>
            <a:r>
              <a:t>this directly.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projects/templates/template_template/src/template_template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Testing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 mocks, anywhere: tests use real files, real YAML, real rendered output —</a:t>
            </a:r>
            <a:br/>
            <a:r>
              <a:t>never unittest.mock or MagicMock.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90% coverage floor on every exemplar's own src/; 60% floor on shared</a:t>
            </a:r>
            <a:br/>
            <a:r>
              <a:t>infrastructure/.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project fails its own gate the same way regardless of which exemplar it is —</a:t>
            </a:r>
            <a:br/>
            <a:r>
              <a:t>there is no per-project exception without an explicit, documented reason.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Proof, not adjectives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Measured, not asserted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6800" b="1">
                <a:solidFill>
                  <a:srgbClr val="B3131A"/>
                </a:solidFill>
                <a:latin typeface="Helvetica"/>
              </a:rPr>
              <a:t>161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95.55% coverage on template_template's own source — the same gate every exemplar in the repo must pass. No partial-credit reporting path exists.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8138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A0A"/>
                </a:solidFill>
              </a:rPr>
              <a:t>Already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8138160" cy="12801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r>
              <a:rPr sz="6000" b="1">
                <a:solidFill>
                  <a:srgbClr val="B3131A"/>
                </a:solidFill>
                <a:latin typeface="Helvetica"/>
              </a:rPr>
              <a:t>9 historical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0A0A0A"/>
                </a:solidFill>
              </a:rPr>
              <a:t>Prior v1.0.9 references: Zenodo, GitHub, PyPI (sandbox), IPFS, Software Heritage, GitHub Pages, Netlify, Hugging Face, OSF. Intended v2.0.0 is unreleased. Licensed Apache-2.0.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7" name="Picture 6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This deck is an instance of the same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number on the previous two slides was read live from</a:t>
            </a:r>
            <a:br/>
            <a:r>
              <a:t>template_template's own manuscript/config.yaml and this monorepo's generated</a:t>
            </a:r>
            <a:br/>
            <a:r>
              <a:t>coverage report — not typed into this YAML file by hand.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src/deck_tokens.py::build_deck_tokens is the function that did the reading; you</a:t>
            </a:r>
            <a:br/>
            <a:r>
              <a:t>can run it yourself and get the same numbers.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token-resolution audit fails this deck's own build if any of these values ever</a:t>
            </a:r>
            <a:br/>
            <a:r>
              <a:t>go missing.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projects/templates/template_pitch_deck/src/template_pitch_deck/deck_tokens.py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The pattern generalizes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full roster, not one cherry-picked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611754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projects/templates/ holds all 25 public exemplars: template_active_inference,</a:t>
            </a:r>
            <a:br/>
            <a:r>
              <a:t>template_advanced_literature_review, template_autopoiesis,</a:t>
            </a:r>
            <a:br/>
            <a:r>
              <a:t>template_autoresearch_project, template_autoscientists,</a:t>
            </a:r>
            <a:br/>
            <a:r>
              <a:t>template_code_project, template_data_descriptor, template_eda_notebook,</a:t>
            </a:r>
            <a:br/>
            <a:r>
              <a:t>template_experiment_tree, template_formal, template_gold_refinement,</a:t>
            </a:r>
            <a:br/>
            <a:r>
              <a:t>template_literature_meta_analysis, template_madlib, template_methods_paper,</a:t>
            </a:r>
            <a:br/>
            <a:r>
              <a:t>template_newspaper, template_pitch_deck, template_pools_rules_tools,</a:t>
            </a:r>
            <a:br/>
            <a:r>
              <a:t>template_prose_project, template_redacted_report, template_registered_report,</a:t>
            </a:r>
            <a:br/>
            <a:r>
              <a:t>template_search_project, template_sia, template_storybook, template_template,</a:t>
            </a:r>
            <a:br/>
            <a:r>
              <a:t>template_textbook.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One contract across all public exemplars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65011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template_active_inference is called out here only as one concrete instance to</a:t>
            </a:r>
            <a:br/>
            <a:r>
              <a:t>point to — every name in that list is an independently-built exemplar following</a:t>
            </a:r>
            <a:br/>
            <a:r>
              <a:t>the identical two-layer architecture, not a hand-picked best case.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Neither exemplar's coverage gate or drift check required any special-casing to</a:t>
            </a:r>
            <a:br/>
            <a:r>
              <a:t>add — the contract is uniform across all 25 projects, and the folder itself is the</a:t>
            </a:r>
            <a:br/>
            <a:r>
              <a:t>evidence, not a claim about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docs/_generated/active_projects.md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makes an exemplar 'public'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single hand-edited registry (infrastructure/project/public_scope.py) lists every</a:t>
            </a:r>
            <a:br/>
            <a:r>
              <a:t>project name in public CI/documentation scope.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Everything else under projects/ (working, ongoing, archive folders) stays</a:t>
            </a:r>
            <a:br/>
            <a:r>
              <a:t>local-only by construction, never accidentally published.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An automated confidentiality audit fails CI if a private project path is ever</a:t>
            </a:r>
            <a:br/>
            <a:r>
              <a:t>tracked by mistake.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Governance and confidentiality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Public vs. private, by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Only projects/templates/ is public and CI-gated; private working projects render</a:t>
            </a:r>
            <a:br/>
            <a:r>
              <a:t>locally through the same pipeline without ever being tracked.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dedicated audit (scripts/audit/check_tracked_all.py) enforces this on every</a:t>
            </a:r>
            <a:br/>
            <a:r>
              <a:t>push, not only at release time.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same separation pattern that lets a lab keep unpublished work private,</a:t>
            </a:r>
            <a:br/>
            <a:r>
              <a:t>while still exercising the identical tested pipeline, day to day.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Publishing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registry of 20 publishing platforms — Zenodo, arXiv, GitHub, PyPI, OSF,</a:t>
            </a:r>
            <a:br/>
            <a:r>
              <a:t>Software Heritage, Hugging Face, IPFS, and more — with per-platform</a:t>
            </a:r>
            <a:br/>
            <a:r>
              <a:t>automation where an API exists.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Platforms without a submission API (arXiv) are documented as a manual step,</a:t>
            </a:r>
            <a:br/>
            <a:r>
              <a:t>not silently skipped or falsely marked complete.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'published' status in a project's README is compiled from that project's</a:t>
            </a:r>
            <a:br/>
            <a:r>
              <a:t>own config.yaml, not hand-written prose that can drift out of sync.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Reproducibility guarantees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reproducible means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Fixed RNG seeds and MPLBACKEND=Agg for headless, deterministic figure</a:t>
            </a:r>
            <a:br/>
            <a:r>
              <a:t>generation.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Two consecutive pipeline runs against the same repository state produce</a:t>
            </a:r>
            <a:br/>
            <a:r>
              <a:t>byte-identical rendered output.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Coverage and test counts are read from a generated report</a:t>
            </a:r>
            <a:br/>
            <a:r>
              <a:t>(docs/_generated/COUNTS.md), never hardcoded into prose that could go</a:t>
            </a:r>
            <a:br/>
            <a:r>
              <a:t>stale.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How you would verify this deck's own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Clone the monorepo, run the same pipeline command shown in this project's</a:t>
            </a:r>
            <a:br/>
            <a:r>
              <a:t>README, and regenerate this exact deck.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Diff the regenerated PDF/PPTX against the committed output — a</a:t>
            </a:r>
            <a:br/>
            <a:r>
              <a:t>token-honesty test already does this as part of the project's own CI gate.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Nothing in this pitch requires trusting the presenter; it requires running the</a:t>
            </a:r>
            <a:br/>
            <a:r>
              <a:t>pipeline.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Scientific integrity, by construction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Independent gates, not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2886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No-mocks testing policy, CI-enforced: scripts/audit/verify_no_mocks.py fails</a:t>
            </a:r>
            <a:br/>
            <a:r>
              <a:t>the build if any test imports MagicMock, mocker.patch, or unittest.mock — a</a:t>
            </a:r>
            <a:br/>
            <a:r>
              <a:t>checked gate, not a style preference.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Coverage floors are enforced per project (90%) and for shared infrastructure</a:t>
            </a:r>
            <a:br/>
            <a:r>
              <a:t>(60%), not averaged away across the monorepo.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byte-level reproducibility invariant: two renders of identical content in the</a:t>
            </a:r>
            <a:br/>
            <a:r>
              <a:t>same environment produce an identical PDF — verified by a real, passing test,</a:t>
            </a:r>
            <a:br/>
            <a:r>
              <a:t>not assumed across every OS/toolchain combination.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tests/infra_tests/rendering/test_slide_deck.py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The integrity stack, gate by gate</a:t>
            </a:r>
          </a:p>
        </p:txBody>
      </p:sp>
      <p:pic>
        <p:nvPicPr>
          <p:cNvPr id="4" name="Picture 3" descr="integrity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463" y="914400"/>
            <a:ext cx="5379072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projects/templates/template_pitch_deck/src/template_pitch_deck/token_resolution.py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Why gates instead of a style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2886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style guide is a request; a gate is a build failure — the difference between</a:t>
            </a:r>
            <a:br/>
            <a:r>
              <a:t>'we ask reviewers to check citations' and 'the render script exits non-zero if one</a:t>
            </a:r>
            <a:br/>
            <a:r>
              <a:t>is missing'.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Each gate here targets one specific failure mode it was built to catch: a stale</a:t>
            </a:r>
            <a:br/>
            <a:r>
              <a:t>token, a cliche phrase, an uncited fact, a non-reproducible artifact.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None of these gates existed before this exemplar needed them — each was</a:t>
            </a:r>
            <a:br/>
            <a:r>
              <a:t>added because a real defect surfaced during this project's own development,</a:t>
            </a:r>
            <a:br/>
            <a:r>
              <a:t>not speculatively.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projects/templates/template_pitch_deck/src/template_pitch_deck/diligence_audit.py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happens when a gate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scripts/10_audit_deck_content.py exits non-zero on the first unresolved token</a:t>
            </a:r>
            <a:br/>
            <a:r>
              <a:t>or cliche hit — the render script never runs against unaudited content.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scripts/30_audit_diligence.py exits non-zero if any fact-bearing slide lacks a</a:t>
            </a:r>
            <a:br/>
            <a:r>
              <a:t>source citation — a deck can be complete and still fail to ship.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Fail-closed, not fail-open: an audit that cannot run is treated as a failure, never</a:t>
            </a:r>
            <a:br/>
            <a:r>
              <a:t>silently skipped and reported as a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projects/templates/template_pitch_deck/scripts/10_audit_deck_content.py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Coverage isn't a headline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3834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one of 25 public exemplars is measured independently, not summarized</a:t>
            </a:r>
            <a:br/>
            <a:r>
              <a:t>into one repo-wide percentage.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chart on the next slide is generated from the same</a:t>
            </a:r>
            <a:br/>
            <a:r>
              <a:t>docs/_generated/COUNTS.md factsheet this deck's own 95.55% figure comes</a:t>
            </a:r>
            <a:br/>
            <a:r>
              <a:t>from — one source of truth, two presentations.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Per-exemplar coverage, measured live</a:t>
            </a:r>
          </a:p>
        </p:txBody>
      </p:sp>
      <p:pic>
        <p:nvPicPr>
          <p:cNvPr id="4" name="Picture 3" descr="coverage_by_exemp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992" y="914400"/>
            <a:ext cx="4696015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Test volume and coverage aren't a tradeoff</a:t>
            </a:r>
          </a:p>
        </p:txBody>
      </p:sp>
      <p:pic>
        <p:nvPicPr>
          <p:cNvPr id="4" name="Picture 3" descr="test_count_vs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72" y="914400"/>
            <a:ext cx="4728854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docs/_generated/COUNTS.md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This deck audits itself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8220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src/token_resolution.py fails the build on any unresolved double-curly-brace</a:t>
            </a:r>
            <a:br/>
            <a:r>
              <a:t>placeholder — the same discipline this slide's own template_template token was</a:t>
            </a:r>
            <a:br/>
            <a:r>
              <a:t>resolved by.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src/cliche_lint.py and src/diligence_audit.py both run inside</a:t>
            </a:r>
            <a:br/>
            <a:r>
              <a:t>render_orchestration.py itself, before that deck length's own PDF/PPTX is</a:t>
            </a:r>
            <a:br/>
            <a:r>
              <a:t>written — a slide referencing a live-sourced token with no citation blocks that</a:t>
            </a:r>
            <a:br/>
            <a:r>
              <a:t>length's render, it does not just fail a separate, skippable check.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None of these checks are generic infrastructure — they are this project's own</a:t>
            </a:r>
            <a:br/>
            <a:r>
              <a:t>src/, built specifically because a pitch deck is exactly the kind of document that</a:t>
            </a:r>
            <a:br/>
            <a:r>
              <a:t>tempts unverifiable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projects/templates/template_pitch_deck/src/template_pitch_deck/diligence_audit.py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chain of custody: slide → QR →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5553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slide in this deck carries its own QR code, linking to a standalone, real</a:t>
            </a:r>
            <a:br/>
            <a:r>
              <a:t>Markdown page for that exact slide under output/slides_standalone/.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Once this output/ directory is committed and pushed, a photo of a projected or</a:t>
            </a:r>
            <a:br/>
            <a:r>
              <a:t>printed slide can be traced back to its precise source page on GitHub — not just</a:t>
            </a:r>
            <a:br/>
            <a:r>
              <a:t>to the deck as a whole. Locally, the generated page already exists; the QR only</a:t>
            </a:r>
            <a:br/>
            <a:r>
              <a:t>resolves once it is actually published.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Mechanically, this is the same source-citation system with one more hop: a</a:t>
            </a:r>
            <a:br/>
            <a:r>
              <a:t>citation links out to evidence; the QR links to the slide's own generated page,</a:t>
            </a:r>
            <a:br/>
            <a:r>
              <a:t>which repeats that same citation.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projects/templates/template_pitch_deck/src/template_pitch_deck/standalone_slides.py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Cite this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31939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pitch deck is its own exemplar in the same monorepo — it has its own</a:t>
            </a:r>
            <a:br/>
            <a:r>
              <a:t>src/, tests, and citable identity, distinct from the DOI of template_template, the</a:t>
            </a:r>
            <a:br/>
            <a:r>
              <a:t>project it pitches.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deck's own DOI: 10.5281/zenodo.21281509.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That status is read live from this project's own manuscript/config.yaml at</a:t>
            </a:r>
            <a:br/>
            <a:r>
              <a:t>render time — the moment a real Zenodo deposit is recorded there, this slide's</a:t>
            </a:r>
            <a:br/>
            <a:r>
              <a:t>own text updates on the next regeneration, the same way every other fact in this</a:t>
            </a:r>
            <a:br/>
            <a:r>
              <a:t>deck does.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deck's DOI is deposited through the same infrastructure.publishing</a:t>
            </a:r>
            <a:br/>
            <a:r>
              <a:t>pipeline every other exemplar in this monorepo uses — nothing deck-specific to</a:t>
            </a:r>
            <a:br/>
            <a:r>
              <a:t>build, only a deposit to make.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What's actually inside infrastructure/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Not a black 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92722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28 importable subpackages, 1351 tracked Python files total under</a:t>
            </a:r>
            <a:br/>
            <a:r>
              <a:t>infrastructure/ — a real inventory anyone can `git ls-files` themselves, not a</a:t>
            </a:r>
            <a:br/>
            <a:r>
              <a:t>claimed abstraction.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largest single subpackage, reporting, holds 411 files — still a minority of</a:t>
            </a:r>
            <a:br/>
            <a:r>
              <a:t>the whole, not a monolith wearing a modular label.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Every number on this slide is computed live by src/infra_facts.py at render</a:t>
            </a:r>
            <a:br/>
            <a:r>
              <a:t>time, reusing the exact same counters docs/_generated/COUNTS.md is built</a:t>
            </a:r>
            <a:br/>
            <a:r>
              <a:t>from.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next chart narrows the total to importable subpackages, excluding 3</a:t>
            </a:r>
            <a:br/>
            <a:r>
              <a:t>top-level Python file(s).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projects/templates/template_pitch_deck/src/template_pitch_deck/infra_facts.py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Helvetica"/>
              </a:rPr>
              <a:t>infrastructure/, by subpackage</a:t>
            </a:r>
          </a:p>
        </p:txBody>
      </p:sp>
      <p:pic>
        <p:nvPicPr>
          <p:cNvPr id="4" name="Picture 3" descr="infra_subpackage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4357" y="914400"/>
            <a:ext cx="3415284" cy="3415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3"/>
              </a:rPr>
              <a:t>Source: projects/templates/template_pitch_deck/src/template_pitch_deck/infra_facts.py</a:t>
            </a:r>
          </a:p>
        </p:txBody>
      </p:sp>
      <p:pic>
        <p:nvPicPr>
          <p:cNvPr id="6" name="Picture 5" descr="image.png">
            <a:hlinkClick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Why partition it this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2886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Each subpackage boundary matches a real reuse boundary: rendering/,</a:t>
            </a:r>
            <a:br/>
            <a:r>
              <a:t>validation/, publishing/, provenance/ each solve one generic problem every</a:t>
            </a:r>
            <a:br/>
            <a:r>
              <a:t>exemplar needs, independent of any project's domain logic.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change inside one subpackage cannot silently reach into another without an</a:t>
            </a:r>
            <a:br/>
            <a:r>
              <a:t>explicit import — the boundary is enforced by the drift check, not just</a:t>
            </a:r>
            <a:br/>
            <a:r>
              <a:t>convention.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is the same two-layer split described earlier in this deck, now shown at the</a:t>
            </a:r>
            <a:br/>
            <a:r>
              <a:t>resolution of individual subpackages instead of the whole layer.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Roadmap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What comes next for this exemplar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Extend token-sourced facts beyond one pitch subject to any exemplar in the</a:t>
            </a:r>
            <a:br/>
            <a:r>
              <a:t>roster, so a new deck for a different project needs only new content YAML, not</a:t>
            </a:r>
            <a:br/>
            <a:r>
              <a:t>new code.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Add a second validated pitch (a broader meta-science-group deck) reusing the</a:t>
            </a:r>
            <a:br/>
            <a:r>
              <a:t>same rendering and audit pipeline.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Track deck-generation coverage and drift in the same CI gates that already</a:t>
            </a:r>
            <a:br/>
            <a:r>
              <a:t>watch every other public exemplar.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Where this could go next for your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7552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grant-report deck generated the same way a manuscript is — bound to the</a:t>
            </a:r>
            <a:br/>
            <a:r>
              <a:t>same project data your team already tracks.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recurring quarterly-update deck that regenerates instead of being rebuilt</a:t>
            </a:r>
            <a:br/>
            <a:r>
              <a:t>from scratch each cycle.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 shared content schema across your organization's decks, so a house style</a:t>
            </a:r>
            <a:br/>
            <a:r>
              <a:t>survives staff turnover.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0219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Adopt this pattern for your own methods papers: bind every reported number</a:t>
            </a:r>
            <a:br/>
            <a:r>
              <a:t>to the code that produced it, not to a hand-typed table.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Pilot it on one existing manuscript in your group before committing to a full</a:t>
            </a:r>
            <a:br/>
            <a:r>
              <a:t>rewrite.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Happy to pair with your team through a first regeneration cycle and help define</a:t>
            </a:r>
            <a:br/>
            <a:r>
              <a:t>your own introspection surface, if useful — no prior engagements to point to yet,</a:t>
            </a:r>
            <a:br/>
            <a:r>
              <a:t>this pattern is newly forkable.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Funding &amp; consulting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5553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The code itself is available to adopt directly today — real, tested, and licensed</a:t>
            </a:r>
            <a:br/>
            <a:r>
              <a:t>for reuse, no engagement required to start.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Open to funding conversations for a dedicated integration (a new pitch subject,</a:t>
            </a:r>
            <a:br/>
            <a:r>
              <a:t>a distinct theme, a deeper introspection surface) — no such engagement exists</a:t>
            </a:r>
            <a:br/>
            <a:r>
              <a:t>yet, this is an invitation to scope one, not an established program.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Open to scoping a consulting engagement on request — pairing through a first</a:t>
            </a:r>
            <a:br/>
            <a:r>
              <a:t>regeneration cycle, or adapting the two-layer architecture to an existing</a:t>
            </a:r>
            <a:br/>
            <a:r>
              <a:t>codebase outside this monorepo. No such engagement has happened yet; this</a:t>
            </a:r>
            <a:br/>
            <a:r>
              <a:t>is an invitation, not a track record.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59050"/>
            <a:ext cx="8138160" cy="3810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918970"/>
            <a:ext cx="8138160" cy="50292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3300"/>
              </a:lnSpc>
            </a:pPr>
            <a:r>
              <a:rPr sz="3300" b="1">
                <a:solidFill>
                  <a:srgbClr val="0A0A0A"/>
                </a:solidFill>
                <a:latin typeface="Helvetica"/>
              </a:rPr>
              <a:t>Appendix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2393823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Autopoietic — a system that regenerates its own description from its own live</a:t>
            </a:r>
            <a:br/>
            <a:r>
              <a:t>state, rather than from a fixed snapshot.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Thin orchestrator — a script that coordinates infrastructure/ and src/ calls but</a:t>
            </a:r>
            <a:br/>
            <a:r>
              <a:t>contains no business logic itself.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Coverage floor — the minimum percentage of source lines a test suite must</a:t>
            </a:r>
            <a:br/>
            <a:r>
              <a:t>exercise before the pipeline is allowed to proceed.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No-mocks policy — a testing rule requiring real files, real data, and real</a:t>
            </a:r>
            <a:br/>
            <a:r>
              <a:t>computation instead of simulated objects.</a:t>
            </a:r>
          </a:p>
        </p:txBody>
      </p:sp>
      <p:pic>
        <p:nvPicPr>
          <p:cNvPr id="5" name="Picture 4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2920" rIns="502920">
            <a:no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Helvetica"/>
              </a:rPr>
              <a:t>Citation and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0305"/>
            <a:ext cx="8138160" cy="122186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Concept DOI: 10.5281/zenodo.20419007.</a:t>
            </a:r>
          </a:p>
          <a:p>
            <a:pPr>
              <a:lnSpc>
                <a:spcPts val="2100"/>
              </a:lnSpc>
              <a:spcAft>
                <a:spcPts val="828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Repository: docxology/template_template, licensed Apache-2.0.</a:t>
            </a:r>
          </a:p>
          <a:p>
            <a:pPr>
              <a:lnSpc>
                <a:spcPts val="2100"/>
              </a:lnSpc>
              <a:spcAft>
                <a:spcPts val="0"/>
              </a:spcAft>
              <a:defRPr sz="1800">
                <a:solidFill>
                  <a:srgbClr val="0A0A0A"/>
                </a:solidFill>
                <a:latin typeface="Helvetica"/>
              </a:defRPr>
            </a:pPr>
            <a:r>
              <a:t>• This deck itself: projects/templates/template_pitch_deck in the same</a:t>
            </a:r>
            <a:br/>
            <a:r>
              <a:t>monorepo.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8234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8A8F99"/>
                </a:solidFill>
                <a:hlinkClick r:id="rId2"/>
              </a:rPr>
              <a:t>Source: projects/templates/template_template/manuscript/config.yaml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54480"/>
            <a:ext cx="109728" cy="1737360"/>
          </a:xfrm>
          <a:prstGeom prst="rect">
            <a:avLst/>
          </a:prstGeom>
          <a:solidFill>
            <a:srgbClr val="B31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8138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9C9C9"/>
                </a:solidFill>
              </a:rPr>
              <a:t>Research infrastructure that documents itself — a case study for meta-science and science-integrity teams</a:t>
            </a:r>
          </a:p>
        </p:txBody>
      </p:sp>
      <p:pic>
        <p:nvPicPr>
          <p:cNvPr id="6" name="Picture 5" descr="image.png">
            <a:hlinkClick r:id="rId4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152" y="4466844"/>
            <a:ext cx="566928" cy="5669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