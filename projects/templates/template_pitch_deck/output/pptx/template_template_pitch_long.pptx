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long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long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long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long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projects/templates/template_pitch_deck/output/slides_standalone/template_template_long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docxology/template/blob/main/projects/templates/template_pitch_deck/output/slides_standalone/template_template_long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long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long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long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long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long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github.com/docxology/template/blob/main/projects/templates/template_pitch_deck/output/slides_standalone/template_template_long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projects/templates/template_pitch_deck/output/slides_standalone/template_template_long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ithub.com/docxology/template/blob/main/projects/templates/template_pitch_deck/output/slides_standalone/template_template_long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github.com/docxology/template/blob/main/projects/templates/template_pitch_deck/output/slides_standalone/template_template_long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github.com/docxology/template/blob/main/projects/templates/template_pitch_deck/output/slides_standalone/template_template_long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long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src/template_template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long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long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long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3.png"/><Relationship Id="rId4" Type="http://schemas.openxmlformats.org/officeDocument/2006/relationships/hyperlink" Target="https://github.com/docxology/template/blob/main/projects/templates/template_pitch_deck/output/slides_standalone/template_template_long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long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eck_tokens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long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output/slides_standalone/template_template_long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7.png"/><Relationship Id="rId4" Type="http://schemas.openxmlformats.org/officeDocument/2006/relationships/hyperlink" Target="https://github.com/docxology/template/blob/main/projects/templates/template_pitch_deck/output/slides_standalone/template_template_long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hyperlink" Target="https://github.com/docxology/template/blob/main/projects/templates/template_pitch_deck/output/slides_standalone/template_template_long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projects/templates/template_pitch_deck/output/slides_standalone/template_template_long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github.com/docxology/template/blob/main/projects/templates/template_pitch_deck/output/slides_standalone/template_template_long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projects/templates/template_pitch_deck/output/slides_standalone/template_template_long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hyperlink" Target="https://github.com/docxology/template/blob/main/projects/templates/template_pitch_deck/output/slides_standalone/template_template_long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github.com/docxology/template/blob/main/projects/templates/template_pitch_deck/output/slides_standalone/template_template_long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long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github.com/docxology/template/blob/main/projects/templates/template_pitch_deck/output/slides_standalone/template_template_long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36.png"/><Relationship Id="rId4" Type="http://schemas.openxmlformats.org/officeDocument/2006/relationships/hyperlink" Target="https://github.com/docxology/template/blob/main/projects/templates/template_pitch_deck/output/slides_standalone/template_template_long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hyperlink" Target="https://github.com/docxology/template/blob/main/projects/templates/template_pitch_deck/src/token_resolution.py" TargetMode="External"/><Relationship Id="rId4" Type="http://schemas.openxmlformats.org/officeDocument/2006/relationships/image" Target="../media/image38.png"/><Relationship Id="rId5" Type="http://schemas.openxmlformats.org/officeDocument/2006/relationships/hyperlink" Target="https://github.com/docxology/template/blob/main/projects/templates/template_pitch_deck/output/slides_standalone/template_template_long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39.png"/><Relationship Id="rId4" Type="http://schemas.openxmlformats.org/officeDocument/2006/relationships/hyperlink" Target="https://github.com/docxology/template/blob/main/projects/templates/template_pitch_deck/output/slides_standalone/template_template_long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cripts/10_audit_deck_content.py" TargetMode="External"/><Relationship Id="rId3" Type="http://schemas.openxmlformats.org/officeDocument/2006/relationships/image" Target="../media/image40.png"/><Relationship Id="rId4" Type="http://schemas.openxmlformats.org/officeDocument/2006/relationships/hyperlink" Target="https://github.com/docxology/template/blob/main/projects/templates/template_pitch_deck/output/slides_standalone/template_template_long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41.png"/><Relationship Id="rId4" Type="http://schemas.openxmlformats.org/officeDocument/2006/relationships/hyperlink" Target="https://github.com/docxology/template/blob/main/projects/templates/template_pitch_deck/output/slides_standalone/template_template_long/slide_38.m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3.png"/><Relationship Id="rId5" Type="http://schemas.openxmlformats.org/officeDocument/2006/relationships/hyperlink" Target="https://github.com/docxology/template/blob/main/projects/templates/template_pitch_deck/output/slides_standalone/template_template_long/slide_39.md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5.png"/><Relationship Id="rId5" Type="http://schemas.openxmlformats.org/officeDocument/2006/relationships/hyperlink" Target="https://github.com/docxology/template/blob/main/projects/templates/template_pitch_deck/output/slides_standalone/template_template_long/slide_40.md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46.png"/><Relationship Id="rId4" Type="http://schemas.openxmlformats.org/officeDocument/2006/relationships/hyperlink" Target="https://github.com/docxology/template/blob/main/projects/templates/template_pitch_deck/output/slides_standalone/template_template_long/slide_41.md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standalone_slides.py" TargetMode="External"/><Relationship Id="rId3" Type="http://schemas.openxmlformats.org/officeDocument/2006/relationships/image" Target="../media/image47.png"/><Relationship Id="rId4" Type="http://schemas.openxmlformats.org/officeDocument/2006/relationships/hyperlink" Target="https://github.com/docxology/template/blob/main/projects/templates/template_pitch_deck/output/slides_standalone/template_template_long/slide_42.md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48.png"/><Relationship Id="rId4" Type="http://schemas.openxmlformats.org/officeDocument/2006/relationships/hyperlink" Target="https://github.com/docxology/template/blob/main/projects/templates/template_pitch_deck/output/slides_standalone/template_template_long/slide_43.md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hyperlink" Target="https://github.com/docxology/template/blob/main/projects/templates/template_pitch_deck/output/slides_standalone/template_template_long/slide_44.md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infra_facts.py" TargetMode="External"/><Relationship Id="rId3" Type="http://schemas.openxmlformats.org/officeDocument/2006/relationships/image" Target="../media/image50.png"/><Relationship Id="rId4" Type="http://schemas.openxmlformats.org/officeDocument/2006/relationships/hyperlink" Target="https://github.com/docxology/template/blob/main/projects/templates/template_pitch_deck/output/slides_standalone/template_template_long/slide_45.m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hyperlink" Target="https://github.com/docxology/template/blob/main/projects/templates/template_pitch_deck/src/infra_facts.py" TargetMode="External"/><Relationship Id="rId4" Type="http://schemas.openxmlformats.org/officeDocument/2006/relationships/image" Target="../media/image52.png"/><Relationship Id="rId5" Type="http://schemas.openxmlformats.org/officeDocument/2006/relationships/hyperlink" Target="https://github.com/docxology/template/blob/main/projects/templates/template_pitch_deck/output/slides_standalone/template_template_long/slide_46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hyperlink" Target="https://github.com/docxology/template/blob/main/projects/templates/template_pitch_deck/output/slides_standalone/template_template_long/slide_47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hyperlink" Target="https://github.com/docxology/template/blob/main/projects/templates/template_pitch_deck/output/slides_standalone/template_template_long/slide_48.md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github.com/docxology/template/blob/main/projects/templates/template_pitch_deck/output/slides_standalone/template_template_long/slide_49.md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hyperlink" Target="https://github.com/docxology/template/blob/main/projects/templates/template_pitch_deck/output/slides_standalone/template_template_long/slide_50.m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hyperlink" Target="https://github.com/docxology/template/blob/main/projects/templates/template_pitch_deck/output/slides_standalone/template_template_long/slide_51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hyperlink" Target="https://github.com/docxology/template/blob/main/projects/templates/template_pitch_deck/output/slides_standalone/template_template_long/slide_52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hyperlink" Target="https://github.com/docxology/template/blob/main/projects/templates/template_pitch_deck/output/slides_standalone/template_template_long/slide_53.md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hyperlink" Target="https://github.com/docxology/template/blob/main/projects/templates/template_pitch_deck/output/slides_standalone/template_template_long/slide_54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61.png"/><Relationship Id="rId4" Type="http://schemas.openxmlformats.org/officeDocument/2006/relationships/hyperlink" Target="https://github.com/docxology/template/blob/main/projects/templates/template_pitch_deck/output/slides_standalone/template_template_long/slide_55.m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2.png"/><Relationship Id="rId4" Type="http://schemas.openxmlformats.org/officeDocument/2006/relationships/hyperlink" Target="https://github.com/docxology/template/blob/main/projects/templates/template_pitch_deck/output/slides_standalone/template_template_long/slide_56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Research groups publish claims about their own tools and pipelines that no one outside the team can re-check.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Manuscripts describing infrastructure go stale the moment the infrastructure changes underneath them.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Reproducibility efforts usually stop at the data and code layer — the 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Why this is a science-integrity problem, not just a tooling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stale claim about infrastructure is a form of unverified evidence, structurally similar to an uncheckable statistic in a results section.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Peer review rarely re-derives a paper's own infrastructure description; it is trusted by default.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Meta-science groups exist precisely to close gaps like this — this deck is itself an instance of the pattern it is describing.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368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Electronic lab notebooks and preregistration platforms address the experiment layer, not the infrastructure-description layer.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Literate-programming tools (R Markdown, Jupyter, Quarto) bind prose to code within one document, but rarely to a whole repository's live state.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Very few public examples exist of a manuscript that introspects and reports on 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Adjacent practice this builds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Ten Simple Rules for Reproducible Computational Research (Sandve et al., 2013) — the base discipline of tracking exactly what produced each result.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Good Enough Practices in Scientific Computing (Wilson et al., 2017) — version control, testing, and modular code as baseline hygiene.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FAIR principles for research software (Lamprecht et al., 2020) — Findable, Accessible, Interoperable, Reusable, extended here to the manuscript layer itself.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manuscript that is generated FROM the repository it describes, not written ABOUT it from memory.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metric in the paper — module counts, test counts, pipeline stages — is computed live by template_template's own introspection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One of 24 public exemplar templates in the same monorepo, each 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368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src/template_template/introspection.py discovers infrastructure/ subpackages, the pipeline.yaml stage DAG, and the public exemplar roster.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scan reads the filesystem and YAML directly — it does not depend on any external service or cached snapshot.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Function-level entry points (discover_infrastructure_modules, discover_projects, load_pipeline_stages_from_yaml) each return typed, testable 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metrics.py turns the introspection scan into a dictionary of ${variable} values — the same token convention used across every exemplar's manuscript.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build_manuscript_metrics_dict computes counts directly; nothing is copy-pasted from a prior run.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save_metrics_json persists the full dictionary to output/data/metrics.json for downstream inspection.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inject_metrics.py substitutes ${variable} values into manuscript/*.md, writing the resolved text to output/manuscript/ for rendering.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Unresolved tokens are never silently dropped — a missing variable is a build failure, not a blank space in the PDF.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Re-running the pipeline regenerates the paper from current repository state — 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368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Four figures — architecture overview, pipeline stages, module inventory, comparative feature matrix — are generated from the same live data, not hand-drawn.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generate_architecture_viz.py orchestrates dedicated figure modules sharing one palette module, so the visual language stays consistent across all four.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Regenerating figures after a code change is one script call, not a redraw in an external tool.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8366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20639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Two-layer architecture, in depth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Layer 1 — infrastructure/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Generic, reusable modules: rendering (PDF/HTML/PPTX/DOCX/EPUB), validation, publishing, provenance, security.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 project-specific logic lives here — a change to infrastructure/ affects every exemplar identically.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PDF/PPTX renderers (infrastructure/rendering/slide_deck.py, pptx_deck.py) are new additions to this same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Layer 2 — projects/{name}/src/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368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Each exemplar's own domain logic: template_template's introspection/metrics, a code-project's optimizer, this deck's own content loader and token/cliche validators.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Kept out of infrastructure/ by convention, enforced by an automated project/infrastructure-boundary drift 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Thin orchestrator scripts (projects/{name}/scripts/) coordinate the two layers but implement no business logic themselves — a size/complexity gate enforces this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projects/templates/template_template/src/template_template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Testing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 mocks, anywhere: tests use real files, real YAML, real rendered output — never unittest.mock or MagicMock.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90% coverage floor on every exemplar's own src/; 60% floor on shared infrastructure/.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project fails its own gate the same way regardless of which exemplar it is — there is no per-project exception without an explicit, documented reason.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147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97.66% coverage on template_template's own source — the same gate every exemplar in the repo must pass. No partial-credit reporting path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9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Durable publication records already on file (concept DOI 10.5281/zenodo.20419007): Zenodo, GitHub, PyPI (sandbox), IPFS, Software Heritage, GitHub Pages, Netlify, Hugging Face, OSF. Licensed Apache-2.0.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This deck is an instance of the same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number on the previous two slides was read live from template_template's own manuscript/config.yaml and this monorepo's generated coverage report — not typed into this YAML file by hand.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src/deck_tokens.py::build_deck_tokens is the function that did the reading; you can run it yourself and get the same numbers.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token-resolution audit fails this deck's own build if any of these values ever go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projects/templates/template_pitch_deck/src/deck_tokens.py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300" b="1">
                <a:solidFill>
                  <a:srgbClr val="FFFFFF"/>
                </a:solidFill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projects/templates/ holds all 24 public exemplars: template_active_inference, template_advanced_literature_review, template_autopoiesis, template_autoresearch_project, template_autoscientists, template_code_project, template_data_descriptor, template_eda_notebook, template_formal, template_gold_refinement, template_literature_meta_analysis, template_madlib, template_methods_paper, template_newspaper, template_pitch_deck, template_pools_rules_tools, template_prose_project, template_redacted_report, template_registered_report, template_search_project, template_sia, template_storybook, template_template, template_textbook.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template_active_inference is called out here only as one concrete instance to point to — every name in that list is an independently-built exemplar following the identical two-layer architecture, not a hand-picked best case.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Neither exemplar's coverage gate or drift check required any special-casing to add — the contract is uniform across all 24 projects, and the folder itself is the 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makes an exemplar 'public'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single hand-edited registry (infrastructure/project/public_scope.py) lists every project name in public CI/documentation scope.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Everything else under projects/ (working, ongoing, archive folders) stays local-only by construction, never accidentally published.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An automated confidentiality audit fails CI if a private project path is ever tracked by mistake.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Governance and confidentiality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Public vs. private,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368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Only projects/templates/ is public and CI-gated; private working projects render locally through the same pipeline without ever being tracked.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dedicated audit (scripts/audit/check_tracked_all.py) enforces this on every push, not only at release time.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same separation pattern that lets a lab keep unpublished work private, while still exercising the identical tested pipeline, day to day.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Publishing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368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registry of 20 publishing platforms — Zenodo, arXiv, GitHub, PyPI, OSF, Software Heritage, Hugging Face, IPFS, and more — with per-platform automation where an API exists.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Platforms without a submission API (arXiv) are documented as a manual step, not silently skipped or falsely marked complete.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'published' status in a project's README is compiled from that project's own config.yaml, not hand-written prose that can drift out of sync.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Reproducibility guarantees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reproducible means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Fixed RNG seeds and MPLBACKEND=Agg for headless, deterministic figure generation.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Two consecutive pipeline runs against the same repository state produce byte-identical rendered output.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and test counts are read from a generated report (docs/_generated/COUNTS.md), never hardcoded into prose that could go stale.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How you would verify this deck's own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Clone the monorepo, run the same pipeline command shown in this project's README, and regenerate this exact deck.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Diff the regenerated PDF/PPTX against the committed output — a token-honesty test already does this as part of the project's own CI gate.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Nothing in this pitch requires trusting the presenter; it requires running the pipeline.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0A0A0A"/>
                </a:solidFill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No-mocks testing policy, CI-enforced: scripts/audit/verify_no_mocks.py fails the build if any test imports MagicMock, mocker.patch, or unittest.mock — a checked gate, not a style preference.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floors are enforced per project (90%) and for shared infrastructure (60%), not averaged away across the monorepo.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byte-level reproducibility invariant: two renders of identical content in the same environment produce an identical PDF — verified by a real, passing test, 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6445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Why gates instead of a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style guide is a request; a gate is a build failure — the difference between 'we ask reviewers to check citations' and 'the render script exits non-zero if one is missing'.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Each gate here targets one specific failure mode it was built to catch: a stale token, a cliche phrase, an uncited fact, a non-reproducible artifact.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None of these gates existed before this exemplar needed them — each was added because a real defect surfaced during this project's own development, not speculatively.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happens when a gate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368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scripts/10_audit_deck_content.py exits non-zero on the first unresolved token or cliche hit — the render script never runs against unaudited content.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scripts/30_audit_diligence.py exits non-zero if any fact-bearing slide lacks a source citation — a deck can be complete and still fail to ship.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Fail-closed, not fail-open: an audit that cannot run is treated as a failure, never silently skipped and reported as a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projects/templates/template_pitch_deck/scripts/10_audit_deck_content.py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one of 24 public exemplars is measured independently, not summarized into one repo-wide percentage.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is generated from the same docs/_generated/COUNTS.md factsheet this deck's own 97.66% figure comes 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51073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528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src/token_resolution.py fails the build on any unresolved double-curly-brace placeholder — the same discipline this slide's own template_template token was resolved by.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src/cliche_lint.py and src/diligence_audit.py both run inside render_orchestration.py itself, before that deck length's own PDF/PPTX is written — a slide referencing a live-sourced token with no citation blocks that length's render, it does not just fail a separate, skippable 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None of these checks are generic infrastructure — they are this project's own src/, built specifically because a pitch deck is exactly the kind of document that 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slide in this deck carries its own QR code, linking to a standalone, real Markdown page for that exact slide under output/slides_standalone/.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Once this output/ directory is committed and pushed, a photo of a projected or printed slide can be traced back to its precise source page on GitHub — not just to the deck as a whole. Locally, the generated page already exists; the QR only resolves once it is actually published.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Mechanically, this is the same source-citation system with one more hop: a citation links out to evidence; the QR links to the slide's own generated page, 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pitch deck is its own exemplar in the same monorepo — it has its own src/, tests, and citable identity, distinct from the DOI of template_template, the project it pitches.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DOI: 10.5281/zenodo.21281509.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That status is read live from this project's own manuscript/config.yaml at render time — the moment a real Zenodo deposit is recorded there, this slide's own text updates on the next regeneration, the same way every other fact in this deck does.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DOI is deposited through the same infrastructure.publishing pipeline every other exemplar in this monorepo uses — nothing deck-specific to build, only a deposit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A0A0A"/>
                </a:solidFill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25 importable subpackages, 744 tracked Python files total under infrastructure/ — a real inventory anyone can `git ls-files` themselves, not a claimed abstraction.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largest single subpackage, core, holds 128 files — still a minority of the whole, not a monolith wearing a modular label.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number on this slide is computed live by src/infra_facts.py at render time, reusing the exact same counters docs/_generated/COUNTS.md is built from.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shows a slightly narrower total — it only counts files inside an importable subpackage, excluding 2 top-level file(s) (infrastructure/__init__.py, mcp_server.py) that do not belong to any subpackage.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7315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Why partition it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Each subpackage boundary matches a real reuse boundary: rendering/, validation/, publishing/, provenance/ each solve one generic problem every exemplar needs, independent of any project's domain logic.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change inside one subpackage cannot silently reach into another without an explicit import — the boundary is enforced by the drift check, not just convention.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is the same two-layer split described earlier in this deck, now shown at the resolution of individual subpackages instead of the whole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Extend token-sourced facts beyond one pitch subject to any exemplar in the roster, so a new deck for a different project needs only new content YAML, not new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Add a second validated pitch (a broader meta-science-group deck) reusing the same rendering and audit pipeline.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Track deck-generation coverage and drift in the same CI gates that already 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300" b="1">
                <a:solidFill>
                  <a:srgbClr val="FFFFFF"/>
                </a:solidFill>
              </a:rPr>
              <a:t>Where this could go next for your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grant-report deck generated the same way a manuscript is — bound to the same project data your team already tracks.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recurring quarterly-update deck that regenerates instead of being rebuilt from scratch each cycle.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shared content schema across your organization's decks, so a house style survives staff turnover.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Adopt this pattern for your own methods papers: bind every reported number to the code that produced it, not to a hand-typed table.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Pilot it on one existing manuscript in your group before committing to a full rewrite.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Happy to pair with your team through a first regeneration cycle and help define your own introspection surface, if useful — no prior engagements to point to yet, 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code itself is available to adopt directly today — real, tested, and licensed for reuse, no engagement required to start.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funding conversations for a dedicated integration (a new pitch subject, a distinct theme, a deeper introspection surface) — no such engagement exists yet, this is an invitation to scope one, not an established program.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scoping a consulting engagement on request — pairing through a first regeneration cycle, or adapting the two-layer architecture to an existing codebase outside this monorepo. No such engagement has happened yet; this 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Appendix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368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Autopoietic — a system that regenerates its own description from its own live state, rather than from a fixed snapshot.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Thin orchestrator — a script that coordinates infrastructure/ and src/ calls but contains no business logic itself.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floor — the minimum percentage of source lines a test suite must exercise before the pipeline is allowed to proceed.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No-mocks policy — a testing rule requiring real files, real data, and real computation instead of simulated objects.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Citation and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Concept DOI: 10.5281/zenodo.20419007.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Repository: docxology/template_template, licensed Apache-2.0.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 itself: projects/templates/template_pitch_deck in the same monorepo.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