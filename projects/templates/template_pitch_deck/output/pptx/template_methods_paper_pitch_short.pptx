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with the methods audience and the narrow claim boundary.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hyperlink" Target="https://github.com/docxology/template/blob/main/projects/templates/template_pitch_deck/output/slides_standalone/template_methods_paper_short/slide_01.md" TargetMode="Externa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hyperlink" Target="https://github.com/docxology/template/blob/main/projects/templates/template_pitch_deck/output/slides_standalone/template_methods_paper_short/slide_02.md" TargetMode="Externa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ithub.com/docxology/template/blob/main/projects/templates/template_methods_paper/src" TargetMode="External"/><Relationship Id="rId3" Type="http://schemas.openxmlformats.org/officeDocument/2006/relationships/image" Target="../media/image3.png"/><Relationship Id="rId4" Type="http://schemas.openxmlformats.org/officeDocument/2006/relationships/hyperlink" Target="https://github.com/docxology/template/blob/main/projects/templates/template_pitch_deck/output/slides_standalone/template_methods_paper_short/slide_03.md" TargetMode="Externa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ithub.com/docxology/template/blob/main/projects/templates/template_methods_paper/README.md" TargetMode="External"/><Relationship Id="rId3" Type="http://schemas.openxmlformats.org/officeDocument/2006/relationships/image" Target="../media/image4.png"/><Relationship Id="rId4" Type="http://schemas.openxmlformats.org/officeDocument/2006/relationships/hyperlink" Target="https://github.com/docxology/template/blob/main/projects/templates/template_pitch_deck/output/slides_standalone/template_methods_paper_short/slide_04.md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554480"/>
            <a:ext cx="109728" cy="1737360"/>
          </a:xfrm>
          <a:prstGeom prst="rect">
            <a:avLst/>
          </a:prstGeom>
          <a:solidFill>
            <a:srgbClr val="B313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417320"/>
            <a:ext cx="813816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solidFill>
                  <a:srgbClr val="FFFFFF"/>
                </a:solidFill>
              </a:rPr>
              <a:t>A Domain Language for Specifying Controlled Methods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291840"/>
            <a:ext cx="81381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>
                <a:solidFill>
                  <a:srgbClr val="C9C9C9"/>
                </a:solidFill>
              </a:rPr>
              <a:t>A controlled-method specification pitch for reproducible research teams</a:t>
            </a:r>
          </a:p>
        </p:txBody>
      </p:sp>
      <p:pic>
        <p:nvPicPr>
          <p:cNvPr id="6" name="Picture 5" descr="image.png">
            <a:hlinkClick r:id="rId4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74152" y="4466844"/>
            <a:ext cx="566928" cy="56692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02920" rIns="502920">
            <a:no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Helvetica"/>
              </a:rPr>
              <a:t>The methods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070305"/>
            <a:ext cx="8138160" cy="1116711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>
              <a:lnSpc>
                <a:spcPts val="2100"/>
              </a:lnSpc>
              <a:spcAft>
                <a:spcPts val="828"/>
              </a:spcAft>
              <a:defRPr sz="1800">
                <a:solidFill>
                  <a:srgbClr val="0A0A0A"/>
                </a:solidFill>
                <a:latin typeface="Helvetica"/>
              </a:defRPr>
            </a:pPr>
            <a:r>
              <a:t>• Research methods are often described as prose before their assumptions</a:t>
            </a:r>
            <a:br/>
            <a:r>
              <a:t>become executable.</a:t>
            </a:r>
          </a:p>
          <a:p>
            <a:pPr>
              <a:lnSpc>
                <a:spcPts val="2100"/>
              </a:lnSpc>
              <a:spcAft>
                <a:spcPts val="0"/>
              </a:spcAft>
              <a:defRPr sz="1800">
                <a:solidFill>
                  <a:srgbClr val="0A0A0A"/>
                </a:solidFill>
                <a:latin typeface="Helvetica"/>
              </a:defRPr>
            </a:pPr>
            <a:r>
              <a:t>• A controlled specification keeps inputs, stages, outputs, and validation criteria</a:t>
            </a:r>
            <a:br/>
            <a:r>
              <a:t>explicit.</a:t>
            </a:r>
          </a:p>
        </p:txBody>
      </p:sp>
      <p:pic>
        <p:nvPicPr>
          <p:cNvPr id="5" name="Picture 4" descr="image.png">
            <a:hlinkClick r:id="rId3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74152" y="4466844"/>
            <a:ext cx="566928" cy="566928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02920" rIns="502920">
            <a:no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Helvetica"/>
              </a:rPr>
              <a:t>What template_methods_paper contributes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070305"/>
            <a:ext cx="8138160" cy="1116711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>
              <a:lnSpc>
                <a:spcPts val="2100"/>
              </a:lnSpc>
              <a:spcAft>
                <a:spcPts val="828"/>
              </a:spcAft>
              <a:defRPr sz="1800">
                <a:solidFill>
                  <a:srgbClr val="0A0A0A"/>
                </a:solidFill>
                <a:latin typeface="Helvetica"/>
              </a:defRPr>
            </a:pPr>
            <a:r>
              <a:t>• The DSL compiles a declared method plan into deterministic artifacts and a</a:t>
            </a:r>
            <a:br/>
            <a:r>
              <a:t>versioned export receipt.</a:t>
            </a:r>
          </a:p>
          <a:p>
            <a:pPr>
              <a:lnSpc>
                <a:spcPts val="2100"/>
              </a:lnSpc>
              <a:spcAft>
                <a:spcPts val="0"/>
              </a:spcAft>
              <a:defRPr sz="1800">
                <a:solidFill>
                  <a:srgbClr val="0A0A0A"/>
                </a:solidFill>
                <a:latin typeface="Helvetica"/>
              </a:defRPr>
            </a:pPr>
            <a:r>
              <a:t>• The source and test suite make malformed stages and changed numeric</a:t>
            </a:r>
            <a:br/>
            <a:r>
              <a:t>values fail closed.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82346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i="1">
                <a:solidFill>
                  <a:srgbClr val="8A8F99"/>
                </a:solidFill>
                <a:hlinkClick r:id="rId2"/>
              </a:rPr>
              <a:t>Source: projects/templates/template_methods_paper/src</a:t>
            </a:r>
          </a:p>
        </p:txBody>
      </p:sp>
      <p:pic>
        <p:nvPicPr>
          <p:cNvPr id="6" name="Picture 5" descr="image.png">
            <a:hlinkClick r:id="rId4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74152" y="4466844"/>
            <a:ext cx="566928" cy="566928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02920" rIns="502920">
            <a:no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Helvetica"/>
              </a:rPr>
              <a:t>The invitation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070305"/>
            <a:ext cx="8138160" cy="850011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>
              <a:lnSpc>
                <a:spcPts val="2100"/>
              </a:lnSpc>
              <a:spcAft>
                <a:spcPts val="828"/>
              </a:spcAft>
              <a:defRPr sz="1800">
                <a:solidFill>
                  <a:srgbClr val="0A0A0A"/>
                </a:solidFill>
                <a:latin typeface="Helvetica"/>
              </a:defRPr>
            </a:pPr>
            <a:r>
              <a:t>• Start with one method that already has a clear input/output contract.</a:t>
            </a:r>
          </a:p>
          <a:p>
            <a:pPr>
              <a:lnSpc>
                <a:spcPts val="2100"/>
              </a:lnSpc>
              <a:spcAft>
                <a:spcPts val="0"/>
              </a:spcAft>
              <a:defRPr sz="1800">
                <a:solidFill>
                  <a:srgbClr val="0A0A0A"/>
                </a:solidFill>
                <a:latin typeface="Helvetica"/>
              </a:defRPr>
            </a:pPr>
            <a:r>
              <a:t>• Keep external data, publication, and domain-validity claims behind their own</a:t>
            </a:r>
            <a:br/>
            <a:r>
              <a:t>evidence gates.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82346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i="1">
                <a:solidFill>
                  <a:srgbClr val="8A8F99"/>
                </a:solidFill>
                <a:hlinkClick r:id="rId2"/>
              </a:rPr>
              <a:t>Source: projects/templates/template_methods_paper/README.md</a:t>
            </a:r>
          </a:p>
        </p:txBody>
      </p:sp>
      <p:pic>
        <p:nvPicPr>
          <p:cNvPr id="6" name="Picture 5" descr="image.png">
            <a:hlinkClick r:id="rId4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74152" y="4466844"/>
            <a:ext cx="566928" cy="56692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