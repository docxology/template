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 name the audience explicitly — meta-science / science-integrity groups, not general investors.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 — leave contact/repo pointer to the resolved GitHub token.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github.com/docxology/template/blob/main/projects/templates/template_pitch_deck/output/slides_standalone/template_template_medium/slide_01.md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github.com/docxology/template/blob/main/projects/templates/template_pitch_deck/output/slides_standalone/template_template_medium/slide_02.md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github.com/docxology/template/blob/main/projects/templates/template_pitch_deck/output/slides_standalone/template_template_medium/slide_03.md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github.com/docxology/template/blob/main/projects/templates/template_pitch_deck/output/slides_standalone/template_template_medium/slide_04.md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infrastructure/project/public_scope.py" TargetMode="External"/><Relationship Id="rId3" Type="http://schemas.openxmlformats.org/officeDocument/2006/relationships/image" Target="../media/image5.png"/><Relationship Id="rId4" Type="http://schemas.openxmlformats.org/officeDocument/2006/relationships/hyperlink" Target="https://github.com/docxology/template/blob/main/projects/templates/template_pitch_deck/output/slides_standalone/template_template_medium/slide_05.md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template/README.md" TargetMode="External"/><Relationship Id="rId3" Type="http://schemas.openxmlformats.org/officeDocument/2006/relationships/image" Target="../media/image6.png"/><Relationship Id="rId4" Type="http://schemas.openxmlformats.org/officeDocument/2006/relationships/hyperlink" Target="https://github.com/docxology/template/blob/main/projects/templates/template_pitch_deck/output/slides_standalone/template_template_medium/slide_06.md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github.com/docxology/template/blob/main/projects/templates/template_pitch_deck/output/slides_standalone/template_template_medium/slide_07.md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github.com/docxology/template/blob/main/projects/templates/template_pitch_deck/output/slides_standalone/template_template_medium/slide_08.md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hyperlink" Target="https://github.com/docxology/template/blob/main/projects/templates/template_pitch_deck/output/slides_standalone/template_template_medium/slide_09.md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hyperlink" Target="https://github.com/docxology/template/blob/main/projects/templates/template_pitch_deck/output/slides_standalone/template_template_medium/slide_10.md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hyperlink" Target="https://github.com/docxology/template/blob/main/CLAUDE.md" TargetMode="External"/><Relationship Id="rId4" Type="http://schemas.openxmlformats.org/officeDocument/2006/relationships/image" Target="../media/image12.png"/><Relationship Id="rId5" Type="http://schemas.openxmlformats.org/officeDocument/2006/relationships/hyperlink" Target="https://github.com/docxology/template/blob/main/projects/templates/template_pitch_deck/output/slides_standalone/template_template_medium/slide_11.md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hyperlink" Target="https://github.com/docxology/template/blob/main/CLAUDE.md" TargetMode="External"/><Relationship Id="rId4" Type="http://schemas.openxmlformats.org/officeDocument/2006/relationships/image" Target="../media/image14.png"/><Relationship Id="rId5" Type="http://schemas.openxmlformats.org/officeDocument/2006/relationships/hyperlink" Target="https://github.com/docxology/template/blob/main/projects/templates/template_pitch_deck/output/slides_standalone/template_template_medium/slide_12.md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hyperlink" Target="https://github.com/docxology/template/blob/main/projects/templates/template_pitch_deck/output/slides_standalone/template_template_medium/slide_13.md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docs/_generated/COUNTS.md" TargetMode="External"/><Relationship Id="rId3" Type="http://schemas.openxmlformats.org/officeDocument/2006/relationships/image" Target="../media/image16.png"/><Relationship Id="rId4" Type="http://schemas.openxmlformats.org/officeDocument/2006/relationships/hyperlink" Target="https://github.com/docxology/template/blob/main/projects/templates/template_pitch_deck/output/slides_standalone/template_template_medium/slide_14.md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infrastructure/project/public_scope.py" TargetMode="External"/><Relationship Id="rId3" Type="http://schemas.openxmlformats.org/officeDocument/2006/relationships/image" Target="../media/image17.png"/><Relationship Id="rId4" Type="http://schemas.openxmlformats.org/officeDocument/2006/relationships/hyperlink" Target="https://github.com/docxology/template/blob/main/projects/templates/template_pitch_deck/output/slides_standalone/template_template_medium/slide_15.md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template/manuscript/config.yaml" TargetMode="External"/><Relationship Id="rId3" Type="http://schemas.openxmlformats.org/officeDocument/2006/relationships/image" Target="../media/image18.png"/><Relationship Id="rId4" Type="http://schemas.openxmlformats.org/officeDocument/2006/relationships/hyperlink" Target="https://github.com/docxology/template/blob/main/projects/templates/template_pitch_deck/output/slides_standalone/template_template_medium/slide_16.md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hyperlink" Target="https://github.com/docxology/template/blob/main/projects/templates/template_pitch_deck/output/slides_standalone/template_template_medium/slide_17.md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docs/_generated/active_projects.md" TargetMode="External"/><Relationship Id="rId3" Type="http://schemas.openxmlformats.org/officeDocument/2006/relationships/image" Target="../media/image20.png"/><Relationship Id="rId4" Type="http://schemas.openxmlformats.org/officeDocument/2006/relationships/hyperlink" Target="https://github.com/docxology/template/blob/main/projects/templates/template_pitch_deck/output/slides_standalone/template_template_medium/slide_18.md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docs/_generated/active_projects.md" TargetMode="External"/><Relationship Id="rId3" Type="http://schemas.openxmlformats.org/officeDocument/2006/relationships/image" Target="../media/image21.png"/><Relationship Id="rId4" Type="http://schemas.openxmlformats.org/officeDocument/2006/relationships/hyperlink" Target="https://github.com/docxology/template/blob/main/projects/templates/template_pitch_deck/output/slides_standalone/template_template_medium/slide_19.md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hyperlink" Target="https://github.com/docxology/template/blob/main/projects/templates/template_pitch_deck/output/slides_standalone/template_template_medium/slide_20.md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hyperlink" Target="https://github.com/docxology/template/blob/main/projects/templates/template_pitch_deck/output/slides_standalone/template_template_medium/slide_21.md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hyperlink" Target="https://github.com/docxology/template/blob/main/projects/templates/template_pitch_deck/output/slides_standalone/template_template_medium/slide_22.md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tests/infra_tests/rendering/test_slide_deck.py" TargetMode="External"/><Relationship Id="rId3" Type="http://schemas.openxmlformats.org/officeDocument/2006/relationships/image" Target="../media/image25.png"/><Relationship Id="rId4" Type="http://schemas.openxmlformats.org/officeDocument/2006/relationships/hyperlink" Target="https://github.com/docxology/template/blob/main/projects/templates/template_pitch_deck/output/slides_standalone/template_template_medium/slide_23.md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hyperlink" Target="https://github.com/docxology/template/blob/main/projects/templates/template_pitch_deck/src/template_pitch_deck/token_resolution.py" TargetMode="External"/><Relationship Id="rId4" Type="http://schemas.openxmlformats.org/officeDocument/2006/relationships/image" Target="../media/image27.png"/><Relationship Id="rId5" Type="http://schemas.openxmlformats.org/officeDocument/2006/relationships/hyperlink" Target="https://github.com/docxology/template/blob/main/projects/templates/template_pitch_deck/output/slides_standalone/template_template_medium/slide_24.md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docs/_generated/COUNTS.md" TargetMode="External"/><Relationship Id="rId3" Type="http://schemas.openxmlformats.org/officeDocument/2006/relationships/image" Target="../media/image28.png"/><Relationship Id="rId4" Type="http://schemas.openxmlformats.org/officeDocument/2006/relationships/hyperlink" Target="https://github.com/docxology/template/blob/main/projects/templates/template_pitch_deck/output/slides_standalone/template_template_medium/slide_25.md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hyperlink" Target="https://github.com/docxology/template/blob/main/docs/_generated/COUNTS.md" TargetMode="External"/><Relationship Id="rId4" Type="http://schemas.openxmlformats.org/officeDocument/2006/relationships/image" Target="../media/image30.png"/><Relationship Id="rId5" Type="http://schemas.openxmlformats.org/officeDocument/2006/relationships/hyperlink" Target="https://github.com/docxology/template/blob/main/projects/templates/template_pitch_deck/output/slides_standalone/template_template_medium/slide_26.md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hyperlink" Target="https://github.com/docxology/template/blob/main/docs/_generated/COUNTS.md" TargetMode="External"/><Relationship Id="rId4" Type="http://schemas.openxmlformats.org/officeDocument/2006/relationships/image" Target="../media/image32.png"/><Relationship Id="rId5" Type="http://schemas.openxmlformats.org/officeDocument/2006/relationships/hyperlink" Target="https://github.com/docxology/template/blob/main/projects/templates/template_pitch_deck/output/slides_standalone/template_template_medium/slide_27.md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pitch_deck/src/template_pitch_deck/diligence_audit.py" TargetMode="External"/><Relationship Id="rId3" Type="http://schemas.openxmlformats.org/officeDocument/2006/relationships/image" Target="../media/image33.png"/><Relationship Id="rId4" Type="http://schemas.openxmlformats.org/officeDocument/2006/relationships/hyperlink" Target="https://github.com/docxology/template/blob/main/projects/templates/template_pitch_deck/output/slides_standalone/template_template_medium/slide_28.md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pitch_deck/src/template_pitch_deck/standalone_slides.py" TargetMode="External"/><Relationship Id="rId3" Type="http://schemas.openxmlformats.org/officeDocument/2006/relationships/image" Target="../media/image34.png"/><Relationship Id="rId4" Type="http://schemas.openxmlformats.org/officeDocument/2006/relationships/hyperlink" Target="https://github.com/docxology/template/blob/main/projects/templates/template_pitch_deck/output/slides_standalone/template_template_medium/slide_29.md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pitch_deck/manuscript/config.yaml" TargetMode="External"/><Relationship Id="rId3" Type="http://schemas.openxmlformats.org/officeDocument/2006/relationships/image" Target="../media/image35.png"/><Relationship Id="rId4" Type="http://schemas.openxmlformats.org/officeDocument/2006/relationships/hyperlink" Target="https://github.com/docxology/template/blob/main/projects/templates/template_pitch_deck/output/slides_standalone/template_template_medium/slide_30.md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hyperlink" Target="https://github.com/docxology/template/blob/main/projects/templates/template_pitch_deck/output/slides_standalone/template_template_medium/slide_31.md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pitch_deck/src/template_pitch_deck/infra_facts.py" TargetMode="External"/><Relationship Id="rId3" Type="http://schemas.openxmlformats.org/officeDocument/2006/relationships/image" Target="../media/image37.png"/><Relationship Id="rId4" Type="http://schemas.openxmlformats.org/officeDocument/2006/relationships/hyperlink" Target="https://github.com/docxology/template/blob/main/projects/templates/template_pitch_deck/output/slides_standalone/template_template_medium/slide_32.md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hyperlink" Target="https://github.com/docxology/template/blob/main/projects/templates/template_pitch_deck/src/template_pitch_deck/infra_facts.py" TargetMode="External"/><Relationship Id="rId4" Type="http://schemas.openxmlformats.org/officeDocument/2006/relationships/image" Target="../media/image39.png"/><Relationship Id="rId5" Type="http://schemas.openxmlformats.org/officeDocument/2006/relationships/hyperlink" Target="https://github.com/docxology/template/blob/main/projects/templates/template_pitch_deck/output/slides_standalone/template_template_medium/slide_33.md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hyperlink" Target="https://github.com/docxology/template/blob/main/projects/templates/template_pitch_deck/output/slides_standalone/template_template_medium/slide_34.md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hyperlink" Target="https://github.com/docxology/template/blob/main/projects/templates/template_pitch_deck/output/slides_standalone/template_template_medium/slide_35.md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hyperlink" Target="https://github.com/docxology/template/blob/main/projects/templates/template_pitch_deck/output/slides_standalone/template_template_medium/slide_36.md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hyperlink" Target="https://github.com/docxology/template/blob/main/projects/templates/template_pitch_deck/output/slides_standalone/template_template_medium/slide_37.md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4.png"/><Relationship Id="rId4" Type="http://schemas.openxmlformats.org/officeDocument/2006/relationships/hyperlink" Target="https://github.com/docxology/template/blob/main/projects/templates/template_pitch_deck/output/slides_standalone/template_template_medium/slide_38.md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0"/>
            <a:ext cx="109728" cy="173736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8138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A template/ approach to Reproducible Generative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9C9C9"/>
                </a:solidFill>
              </a:rPr>
              <a:t>Research infrastructure that documents itself — a case study for meta-science and science-integrity teams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17552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Research groups publish claims about their own tools and pipelines that no</a:t>
            </a:r>
            <a:br/>
            <a:r>
              <a:t>one outside the team can re-check.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Manuscripts describing infrastructure go stale the moment the infrastructure</a:t>
            </a:r>
            <a:br/>
            <a:r>
              <a:t>changes underneath them.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Reproducibility efforts usually stop at the data and code layer — the</a:t>
            </a:r>
            <a:br/>
            <a:r>
              <a:t>documentation layer is still hand-maintained and drifts silently.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59050"/>
            <a:ext cx="8138160" cy="381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18970"/>
            <a:ext cx="8138160" cy="5029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3300"/>
              </a:lnSpc>
            </a:pPr>
            <a:r>
              <a:rPr sz="3300" b="1">
                <a:solidFill>
                  <a:srgbClr val="0A0A0A"/>
                </a:solidFill>
                <a:latin typeface="Helvetica"/>
              </a:rPr>
              <a:t>Landscape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Where meta-science tooling stands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17552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Electronic lab notebooks and preregistration platforms address the experiment</a:t>
            </a:r>
            <a:br/>
            <a:r>
              <a:t>layer, not the infrastructure-description layer.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Literate-programming tools (R Markdown, Jupyter, Quarto) bind prose to code</a:t>
            </a:r>
            <a:br/>
            <a:r>
              <a:t>within one document, but rarely to a whole repository's live state.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Very few public examples exist of a manuscript that introspects and reports on</a:t>
            </a:r>
            <a:br/>
            <a:r>
              <a:t>the software system that produced it, at repository scale.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What template_template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17552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A manuscript that is generated FROM the repository it describes, not written</a:t>
            </a:r>
            <a:br/>
            <a:r>
              <a:t>ABOUT it from memory.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Every metric in the paper — module counts, test counts, pipeline stages — is</a:t>
            </a:r>
            <a:br/>
            <a:r>
              <a:t>computed live by template_template's own introspection code.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One of 25 public exemplar templates in the same monorepo, each</a:t>
            </a:r>
            <a:br/>
            <a:r>
              <a:t>independently tested and coverage-gated.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infrastructure/project/public_scope.py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554480"/>
            <a:ext cx="502920" cy="762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8138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i="1">
                <a:solidFill>
                  <a:srgbClr val="FFFFFF"/>
                </a:solidFill>
              </a:rPr>
              <a:t>“Autopoietic: the paper regenerates itself from the code it describes.”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0"/>
            <a:ext cx="8138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3131A"/>
                </a:solidFill>
              </a:rPr>
              <a:t>— template_template/README.md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projects/templates/template_template/README.md</a:t>
            </a:r>
          </a:p>
        </p:txBody>
      </p:sp>
      <p:pic>
        <p:nvPicPr>
          <p:cNvPr id="7" name="Picture 6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59050"/>
            <a:ext cx="8138160" cy="381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18970"/>
            <a:ext cx="8138160" cy="5029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3300"/>
              </a:lnSpc>
            </a:pPr>
            <a:r>
              <a:rPr sz="3300" b="1">
                <a:solidFill>
                  <a:srgbClr val="0A0A0A"/>
                </a:solidFill>
                <a:latin typeface="Helvetica"/>
              </a:rPr>
              <a:t>How it works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Introspection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20219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src/template_template/core/introspection.py discovers infrastructure/</a:t>
            </a:r>
            <a:br/>
            <a:r>
              <a:t>subpackages, the pipeline.yaml stage DAG, and the public exemplar roster.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The scan reads the filesystem and YAML directly — it does not depend on any</a:t>
            </a:r>
            <a:br/>
            <a:r>
              <a:t>external service or cached snapshot.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Function-level entry points (discover_infrastructure_modules,</a:t>
            </a:r>
            <a:br/>
            <a:r>
              <a:t>discover_projects, load_pipeline_stages_from_yaml) each return typed, testable</a:t>
            </a:r>
            <a:br/>
            <a:r>
              <a:t>dataclasses.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Metrics and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17552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metrics.py turns the introspection scan into a dictionary of ${variable} values —</a:t>
            </a:r>
            <a:br/>
            <a:r>
              <a:t>the same token convention used across every exemplar's manuscript.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inject_metrics.py substitutes those values into manuscript/*.md, writing the</a:t>
            </a:r>
            <a:br/>
            <a:r>
              <a:t>resolved text to output/manuscript/ for rendering.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Re-running the pipeline regenerates the paper from current repository state —</a:t>
            </a:r>
            <a:br/>
            <a:r>
              <a:t>the citation and the artifact cannot drift apart.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138341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Four figures — architecture overview, pipeline stages, module inventory,</a:t>
            </a:r>
            <a:br/>
            <a:r>
              <a:t>comparative feature matrix — are generated from the same live data, not</a:t>
            </a:r>
            <a:br/>
            <a:r>
              <a:t>hand-drawn.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generate_architecture_viz.py orchestrates dedicated figure modules sharing</a:t>
            </a:r>
            <a:br/>
            <a:r>
              <a:t>one palette module, so the visual language stays consistent across all four.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elvetica"/>
              </a:rPr>
              <a:t>Two-layer architecture, at a glance</a:t>
            </a:r>
          </a:p>
        </p:txBody>
      </p:sp>
      <p:pic>
        <p:nvPicPr>
          <p:cNvPr id="4" name="Picture 3" descr="two_layer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875" y="914400"/>
            <a:ext cx="2986249" cy="34152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3"/>
              </a:rPr>
              <a:t>Source: CLAUDE.md</a:t>
            </a:r>
          </a:p>
        </p:txBody>
      </p:sp>
      <p:pic>
        <p:nvPicPr>
          <p:cNvPr id="6" name="Picture 5" descr="image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elvetica"/>
              </a:rPr>
              <a:t>The core pipeline, stage by stage</a:t>
            </a:r>
          </a:p>
        </p:txBody>
      </p:sp>
      <p:pic>
        <p:nvPicPr>
          <p:cNvPr id="4" name="Picture 3" descr="pipeline_s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73946"/>
            <a:ext cx="8138159" cy="22961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3"/>
              </a:rPr>
              <a:t>Source: CLAUDE.md</a:t>
            </a:r>
          </a:p>
        </p:txBody>
      </p:sp>
      <p:pic>
        <p:nvPicPr>
          <p:cNvPr id="6" name="Picture 5" descr="image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59050"/>
            <a:ext cx="8138160" cy="381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18970"/>
            <a:ext cx="8138160" cy="5029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3300"/>
              </a:lnSpc>
            </a:pPr>
            <a:r>
              <a:rPr sz="3300" b="1">
                <a:solidFill>
                  <a:srgbClr val="0A0A0A"/>
                </a:solidFill>
                <a:latin typeface="Helvetica"/>
              </a:rPr>
              <a:t>Proof, not adjectives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138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A0A0A"/>
                </a:solidFill>
              </a:rPr>
              <a:t>Measured, not asserted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8138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0" b="1">
                <a:solidFill>
                  <a:srgbClr val="B3131A"/>
                </a:solidFill>
              </a:rPr>
              <a:t>154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63240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0A0A0A"/>
                </a:solidFill>
              </a:rPr>
              <a:t>97.07% coverage on template_template's own source — the same gate every exemplar in the repo must pass.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docs/_generated/COUNTS.md</a:t>
            </a:r>
          </a:p>
        </p:txBody>
      </p:sp>
      <p:pic>
        <p:nvPicPr>
          <p:cNvPr id="7" name="Picture 6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No partial credit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111671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90% project-coverage floor and a no-mocks testing policy apply to this project</a:t>
            </a:r>
            <a:br/>
            <a:r>
              <a:t>exactly as they do to the 25 other exemplars.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Every pipeline run either passes its own gate or fails loudly — there is no</a:t>
            </a:r>
            <a:br/>
            <a:r>
              <a:t>partial-credit reporting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infrastructure/project/public_scope.py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Already public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14885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Concept DOI 10.5281/zenodo.20419007. Intended v2.0.0 is unreleased.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Prior v1.0.9 has 9 historical references: Zenodo, GitHub, PyPI (sandbox),</a:t>
            </a:r>
            <a:br/>
            <a:r>
              <a:t>IPFS, Software Heritage, GitHub Pages, Netlify, Hugging Face, OSF.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Licensed Apache-2.0 — the introspection code, not only the prose, is available</a:t>
            </a:r>
            <a:br/>
            <a:r>
              <a:t>for a science-integrity team to audit directly at docxology/template_template.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projects/templates/template_template/manuscript/config.yaml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59050"/>
            <a:ext cx="8138160" cy="381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18970"/>
            <a:ext cx="8138160" cy="5029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3300"/>
              </a:lnSpc>
            </a:pPr>
            <a:r>
              <a:rPr sz="3300" b="1">
                <a:solidFill>
                  <a:srgbClr val="0A0A0A"/>
                </a:solidFill>
                <a:latin typeface="Helvetica"/>
              </a:rPr>
              <a:t>The pattern generalizes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The full roster, not one cherry-picked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261175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projects/templates/ holds all 25 public exemplars: template_active_inference,</a:t>
            </a:r>
            <a:br/>
            <a:r>
              <a:t>template_advanced_literature_review, template_autopoiesis,</a:t>
            </a:r>
            <a:br/>
            <a:r>
              <a:t>template_autoresearch_project, template_autoscientists,</a:t>
            </a:r>
            <a:br/>
            <a:r>
              <a:t>template_code_project, template_data_descriptor, template_eda_notebook,</a:t>
            </a:r>
            <a:br/>
            <a:r>
              <a:t>template_experiment_tree, template_formal, template_gold_refinement,</a:t>
            </a:r>
            <a:br/>
            <a:r>
              <a:t>template_literature_meta_analysis, template_madlib, template_methods_paper,</a:t>
            </a:r>
            <a:br/>
            <a:r>
              <a:t>template_newspaper, template_pitch_deck, template_pools_rules_tools,</a:t>
            </a:r>
            <a:br/>
            <a:r>
              <a:t>template_prose_project, template_redacted_report, template_registered_report,</a:t>
            </a:r>
            <a:br/>
            <a:r>
              <a:t>template_search_project, template_sia, template_storybook, template_template,</a:t>
            </a:r>
            <a:br/>
            <a:r>
              <a:t>template_textbook.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docs/_generated/active_projects.md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One contract across all public exemplars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165011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template_active_inference is called out here only as one concrete instance to</a:t>
            </a:r>
            <a:br/>
            <a:r>
              <a:t>point to — every name in that list is an independently-built exemplar following</a:t>
            </a:r>
            <a:br/>
            <a:r>
              <a:t>the identical two-layer architecture, not a hand-picked best case.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Neither exemplar's coverage gate or drift check required any special-casing to</a:t>
            </a:r>
            <a:br/>
            <a:r>
              <a:t>add — the contract is uniform across all 25 projects, and the folder itself is the</a:t>
            </a:r>
            <a:br/>
            <a:r>
              <a:t>evidence, not a claim about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docs/_generated/active_projects.md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Two-layer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20219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Layer 1 (infrastructure/): generic, reusable — rendering, validation, publishing,</a:t>
            </a:r>
            <a:br/>
            <a:r>
              <a:t>provenance, testing utilities.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Layer 2 (projects/{name}/src/): domain-specific — each exemplar's own</a:t>
            </a:r>
            <a:br/>
            <a:r>
              <a:t>algorithms, kept out of infrastructure/ by convention and enforced by drift</a:t>
            </a:r>
            <a:br/>
            <a:r>
              <a:t>checks.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Thin orchestrator scripts (projects/{name}/scripts/) coordinate the two layers</a:t>
            </a:r>
            <a:br/>
            <a:r>
              <a:t>but implement no business logic themselves.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Governance and confidentiality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111671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Only projects/templates/ is public and CI-gated; private working projects render</a:t>
            </a:r>
            <a:br/>
            <a:r>
              <a:t>locally through the same pipeline without ever being tracked.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A dedicated audit (scripts/audit/check_tracked_all.py) fails CI if any private</a:t>
            </a:r>
            <a:br/>
            <a:r>
              <a:t>project path is accidentally committed.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59050"/>
            <a:ext cx="8138160" cy="381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18970"/>
            <a:ext cx="8138160" cy="5029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3300"/>
              </a:lnSpc>
            </a:pPr>
            <a:r>
              <a:rPr sz="3300" b="1">
                <a:solidFill>
                  <a:srgbClr val="0A0A0A"/>
                </a:solidFill>
                <a:latin typeface="Helvetica"/>
              </a:rPr>
              <a:t>Scientific integrity, by construction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Independent gates, not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228866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No-mocks testing policy, CI-enforced: scripts/audit/verify_no_mocks.py fails</a:t>
            </a:r>
            <a:br/>
            <a:r>
              <a:t>the build if any test imports MagicMock, mocker.patch, or unittest.mock — a</a:t>
            </a:r>
            <a:br/>
            <a:r>
              <a:t>checked gate, not a style preference.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Coverage floors are enforced per project (90%) and for shared infrastructure</a:t>
            </a:r>
            <a:br/>
            <a:r>
              <a:t>(60%), not averaged away across the monorepo.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A byte-level reproducibility invariant: two renders of identical content in the</a:t>
            </a:r>
            <a:br/>
            <a:r>
              <a:t>same environment produce an identical PDF — verified by a real, passing test,</a:t>
            </a:r>
            <a:br/>
            <a:r>
              <a:t>not assumed across every OS/toolchain combination.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tests/infra_tests/rendering/test_slide_deck.py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elvetica"/>
              </a:rPr>
              <a:t>The integrity stack, gate by gate</a:t>
            </a:r>
          </a:p>
        </p:txBody>
      </p:sp>
      <p:pic>
        <p:nvPicPr>
          <p:cNvPr id="4" name="Picture 3" descr="integrity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463" y="914400"/>
            <a:ext cx="5379072" cy="34152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3"/>
              </a:rPr>
              <a:t>Source: projects/templates/template_pitch_deck/src/template_pitch_deck/token_resolution.py</a:t>
            </a:r>
          </a:p>
        </p:txBody>
      </p:sp>
      <p:pic>
        <p:nvPicPr>
          <p:cNvPr id="6" name="Picture 5" descr="image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Coverage isn't a headline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138341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Every one of 25 public exemplars is measured independently, not summarized</a:t>
            </a:r>
            <a:br/>
            <a:r>
              <a:t>into one repo-wide percentage.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The chart on the next slide is generated from the same</a:t>
            </a:r>
            <a:br/>
            <a:r>
              <a:t>docs/_generated/COUNTS.md factsheet this deck's own 97.07% figure comes</a:t>
            </a:r>
            <a:br/>
            <a:r>
              <a:t>from — one source of truth, two presentations.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docs/_generated/COUNTS.md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elvetica"/>
              </a:rPr>
              <a:t>Per-exemplar coverage, measured live</a:t>
            </a:r>
          </a:p>
        </p:txBody>
      </p:sp>
      <p:pic>
        <p:nvPicPr>
          <p:cNvPr id="4" name="Picture 3" descr="coverage_by_exem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992" y="914400"/>
            <a:ext cx="4696015" cy="34152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3"/>
              </a:rPr>
              <a:t>Source: docs/_generated/COUNTS.md</a:t>
            </a:r>
          </a:p>
        </p:txBody>
      </p:sp>
      <p:pic>
        <p:nvPicPr>
          <p:cNvPr id="6" name="Picture 5" descr="image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elvetica"/>
              </a:rPr>
              <a:t>Test volume and coverage aren't a tradeoff</a:t>
            </a:r>
          </a:p>
        </p:txBody>
      </p:sp>
      <p:pic>
        <p:nvPicPr>
          <p:cNvPr id="4" name="Picture 3" descr="test_count_vs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572" y="914400"/>
            <a:ext cx="4728854" cy="34152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3"/>
              </a:rPr>
              <a:t>Source: docs/_generated/COUNTS.md</a:t>
            </a:r>
          </a:p>
        </p:txBody>
      </p:sp>
      <p:pic>
        <p:nvPicPr>
          <p:cNvPr id="6" name="Picture 5" descr="image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This deck audits itself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282206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src/token_resolution.py fails the build on any unresolved double-curly-brace</a:t>
            </a:r>
            <a:br/>
            <a:r>
              <a:t>placeholder — the same discipline this slide's own template_template token was</a:t>
            </a:r>
            <a:br/>
            <a:r>
              <a:t>resolved by.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src/cliche_lint.py and src/diligence_audit.py both run inside</a:t>
            </a:r>
            <a:br/>
            <a:r>
              <a:t>render_orchestration.py itself, before that deck length's own PDF/PPTX is</a:t>
            </a:r>
            <a:br/>
            <a:r>
              <a:t>written — a slide referencing a live-sourced token with no citation blocks that</a:t>
            </a:r>
            <a:br/>
            <a:r>
              <a:t>length's render, it does not just fail a separate, skippable check.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None of these checks are generic infrastructure — they are this project's own</a:t>
            </a:r>
            <a:br/>
            <a:r>
              <a:t>src/, built specifically because a pitch deck is exactly the kind of document that</a:t>
            </a:r>
            <a:br/>
            <a:r>
              <a:t>tempts unverifiable claims.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projects/templates/template_pitch_deck/src/template_pitch_deck/diligence_audit.py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The chain of custody: slide → QR →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255536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Every slide in this deck carries its own QR code, linking to a standalone, real</a:t>
            </a:r>
            <a:br/>
            <a:r>
              <a:t>Markdown page for that exact slide under output/slides_standalone/.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Once this output/ directory is committed and pushed, a photo of a projected or</a:t>
            </a:r>
            <a:br/>
            <a:r>
              <a:t>printed slide can be traced back to its precise source page on GitHub — not just</a:t>
            </a:r>
            <a:br/>
            <a:r>
              <a:t>to the deck as a whole. Locally, the generated page already exists; the QR only</a:t>
            </a:r>
            <a:br/>
            <a:r>
              <a:t>resolves once it is actually published.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Mechanically, this is the same source-citation system with one more hop: a</a:t>
            </a:r>
            <a:br/>
            <a:r>
              <a:t>citation links out to evidence; the QR links to the slide's own generated page,</a:t>
            </a:r>
            <a:br/>
            <a:r>
              <a:t>which repeats that same citation.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projects/templates/template_pitch_deck/src/template_pitch_deck/standalone_slides.py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Cite this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228866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This pitch deck is its own exemplar in the same monorepo — it has its own</a:t>
            </a:r>
            <a:br/>
            <a:r>
              <a:t>src/, tests, and citable identity, distinct from the DOI of template_template, the</a:t>
            </a:r>
            <a:br/>
            <a:r>
              <a:t>project it pitches.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This deck's own DOI: 10.5281/zenodo.21281509.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That status is read live from this project's own manuscript/config.yaml at</a:t>
            </a:r>
            <a:br/>
            <a:r>
              <a:t>render time — the moment a real Zenodo deposit is recorded there, this slide's</a:t>
            </a:r>
            <a:br/>
            <a:r>
              <a:t>own text updates on the next regeneration, the same way every other fact in this</a:t>
            </a:r>
            <a:br/>
            <a:r>
              <a:t>deck does.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projects/templates/template_pitch_deck/manuscript/config.yaml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59050"/>
            <a:ext cx="8138160" cy="381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18970"/>
            <a:ext cx="8138160" cy="5029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3300"/>
              </a:lnSpc>
            </a:pPr>
            <a:r>
              <a:rPr sz="3300" b="1">
                <a:solidFill>
                  <a:srgbClr val="0A0A0A"/>
                </a:solidFill>
                <a:latin typeface="Helvetica"/>
              </a:rPr>
              <a:t>What's actually inside infrastructure/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Not a black 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292722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28 importable subpackages, 1321 tracked Python files total under</a:t>
            </a:r>
            <a:br/>
            <a:r>
              <a:t>infrastructure/ — a real inventory anyone can `git ls-files` themselves, not a</a:t>
            </a:r>
            <a:br/>
            <a:r>
              <a:t>claimed abstraction.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The largest single subpackage, reporting, holds 406 files — still a minority of</a:t>
            </a:r>
            <a:br/>
            <a:r>
              <a:t>the whole, not a monolith wearing a modular label.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Every number on this slide is computed live by src/infra_facts.py at render</a:t>
            </a:r>
            <a:br/>
            <a:r>
              <a:t>time, reusing the exact same counters docs/_generated/COUNTS.md is built</a:t>
            </a:r>
            <a:br/>
            <a:r>
              <a:t>from.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The next chart narrows the total to importable subpackages, excluding 3</a:t>
            </a:r>
            <a:br/>
            <a:r>
              <a:t>top-level file(s): infrastructure/__init__.py and mcp_server.py.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projects/templates/template_pitch_deck/src/template_pitch_deck/infra_facts.py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elvetica"/>
              </a:rPr>
              <a:t>infrastructure/, by subpackage</a:t>
            </a:r>
          </a:p>
        </p:txBody>
      </p:sp>
      <p:pic>
        <p:nvPicPr>
          <p:cNvPr id="4" name="Picture 3" descr="infra_subpackage_siz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357" y="914400"/>
            <a:ext cx="3415284" cy="34152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3"/>
              </a:rPr>
              <a:t>Source: projects/templates/template_pitch_deck/src/template_pitch_deck/infra_facts.py</a:t>
            </a:r>
          </a:p>
        </p:txBody>
      </p:sp>
      <p:pic>
        <p:nvPicPr>
          <p:cNvPr id="6" name="Picture 5" descr="image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59050"/>
            <a:ext cx="8138160" cy="381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18970"/>
            <a:ext cx="8138160" cy="5029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3300"/>
              </a:lnSpc>
            </a:pPr>
            <a:r>
              <a:rPr sz="3300" b="1">
                <a:solidFill>
                  <a:srgbClr val="0A0A0A"/>
                </a:solidFill>
                <a:latin typeface="Helvetica"/>
              </a:rPr>
              <a:t>Roadmap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What comes next for this exemplar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202196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Extend token-sourced facts beyond one pitch subject to any exemplar in the</a:t>
            </a:r>
            <a:br/>
            <a:r>
              <a:t>roster, so a new deck for a different project needs only new content YAML, not</a:t>
            </a:r>
            <a:br/>
            <a:r>
              <a:t>new code.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Add a second validated pitch (a broader meta-science-group deck) reusing the</a:t>
            </a:r>
            <a:br/>
            <a:r>
              <a:t>same rendering and audit pipeline.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Track deck-generation coverage and drift in the same CI gates that already</a:t>
            </a:r>
            <a:br/>
            <a:r>
              <a:t>watch every other public exemplar.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20219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Adopt this pattern for your own methods papers: bind every reported number</a:t>
            </a:r>
            <a:br/>
            <a:r>
              <a:t>to the code that produced it, not to a hand-typed table.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Pilot it on one existing manuscript in your group before committing to a full</a:t>
            </a:r>
            <a:br/>
            <a:r>
              <a:t>rewrite.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Happy to pair with your team through a first regeneration cycle and help define</a:t>
            </a:r>
            <a:br/>
            <a:r>
              <a:t>your own introspection surface, if useful — no prior engagements to point to yet,</a:t>
            </a:r>
            <a:br/>
            <a:r>
              <a:t>this pattern is newly forkable.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Funding &amp; consulting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255536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The code itself is available to adopt directly today — real, tested, and licensed</a:t>
            </a:r>
            <a:br/>
            <a:r>
              <a:t>for reuse, no engagement required to start.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Open to funding conversations for a dedicated integration (a new pitch subject,</a:t>
            </a:r>
            <a:br/>
            <a:r>
              <a:t>a distinct theme, a deeper introspection surface) — no such engagement exists</a:t>
            </a:r>
            <a:br/>
            <a:r>
              <a:t>yet, this is an invitation to scope one, not an established program.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Open to scoping a consulting engagement on request — pairing through a first</a:t>
            </a:r>
            <a:br/>
            <a:r>
              <a:t>regeneration cycle, or adapting the two-layer architecture to an existing</a:t>
            </a:r>
            <a:br/>
            <a:r>
              <a:t>codebase outside this monorepo. No such engagement has happened yet; this</a:t>
            </a:r>
            <a:br/>
            <a:r>
              <a:t>is an invitation, not a track record.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0"/>
            <a:ext cx="109728" cy="173736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8138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9C9C9"/>
                </a:solidFill>
              </a:rPr>
              <a:t>Research infrastructure that documents itself — a case study for meta-science and science-integrity teams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