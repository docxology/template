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medium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medium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medium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medium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5.png"/><Relationship Id="rId4" Type="http://schemas.openxmlformats.org/officeDocument/2006/relationships/hyperlink" Target="https://github.com/docxology/template/blob/main/projects/templates/template_pitch_deck/output/slides_standalone/template_template_medium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6.png"/><Relationship Id="rId4" Type="http://schemas.openxmlformats.org/officeDocument/2006/relationships/hyperlink" Target="https://github.com/docxology/template/blob/main/projects/templates/template_pitch_deck/output/slides_standalone/template_template_medium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docxology/template/blob/main/projects/templates/template_pitch_deck/output/slides_standalone/template_template_medium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docxology/template/blob/main/projects/templates/template_pitch_deck/output/slides_standalone/template_template_medium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medium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medium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2.png"/><Relationship Id="rId5" Type="http://schemas.openxmlformats.org/officeDocument/2006/relationships/hyperlink" Target="https://github.com/docxology/template/blob/main/projects/templates/template_pitch_deck/output/slides_standalone/template_template_medium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4.png"/><Relationship Id="rId5" Type="http://schemas.openxmlformats.org/officeDocument/2006/relationships/hyperlink" Target="https://github.com/docxology/template/blob/main/projects/templates/template_pitch_deck/output/slides_standalone/template_template_medium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github.com/docxology/template/blob/main/projects/templates/template_pitch_deck/output/slides_standalone/template_template_medium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16.png"/><Relationship Id="rId4" Type="http://schemas.openxmlformats.org/officeDocument/2006/relationships/hyperlink" Target="https://github.com/docxology/template/blob/main/projects/templates/template_pitch_deck/output/slides_standalone/template_template_medium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17.png"/><Relationship Id="rId4" Type="http://schemas.openxmlformats.org/officeDocument/2006/relationships/hyperlink" Target="https://github.com/docxology/template/blob/main/projects/templates/template_pitch_deck/output/slides_standalone/template_template_medium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18.png"/><Relationship Id="rId4" Type="http://schemas.openxmlformats.org/officeDocument/2006/relationships/hyperlink" Target="https://github.com/docxology/template/blob/main/projects/templates/template_pitch_deck/output/slides_standalone/template_template_medium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medium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medium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1.png"/><Relationship Id="rId4" Type="http://schemas.openxmlformats.org/officeDocument/2006/relationships/hyperlink" Target="https://github.com/docxology/template/blob/main/projects/templates/template_pitch_deck/output/slides_standalone/template_template_medium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medium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hyperlink" Target="https://github.com/docxology/template/blob/main/projects/templates/template_pitch_deck/output/slides_standalone/template_template_medium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hyperlink" Target="https://github.com/docxology/template/blob/main/projects/templates/template_pitch_deck/output/slides_standalone/template_template_medium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medium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github.com/docxology/template/blob/main/projects/templates/template_pitch_deck/src/template_pitch_deck/token_resolution.py" TargetMode="External"/><Relationship Id="rId4" Type="http://schemas.openxmlformats.org/officeDocument/2006/relationships/image" Target="../media/image27.png"/><Relationship Id="rId5" Type="http://schemas.openxmlformats.org/officeDocument/2006/relationships/hyperlink" Target="https://github.com/docxology/template/blob/main/projects/templates/template_pitch_deck/output/slides_standalone/template_template_medium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8.png"/><Relationship Id="rId4" Type="http://schemas.openxmlformats.org/officeDocument/2006/relationships/hyperlink" Target="https://github.com/docxology/template/blob/main/projects/templates/template_pitch_deck/output/slides_standalone/template_template_medium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30.png"/><Relationship Id="rId5" Type="http://schemas.openxmlformats.org/officeDocument/2006/relationships/hyperlink" Target="https://github.com/docxology/template/blob/main/projects/templates/template_pitch_deck/output/slides_standalone/template_template_medium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32.png"/><Relationship Id="rId5" Type="http://schemas.openxmlformats.org/officeDocument/2006/relationships/hyperlink" Target="https://github.com/docxology/template/blob/main/projects/templates/template_pitch_deck/output/slides_standalone/template_template_medium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iligence_audit.py" TargetMode="External"/><Relationship Id="rId3" Type="http://schemas.openxmlformats.org/officeDocument/2006/relationships/image" Target="../media/image33.png"/><Relationship Id="rId4" Type="http://schemas.openxmlformats.org/officeDocument/2006/relationships/hyperlink" Target="https://github.com/docxology/template/blob/main/projects/templates/template_pitch_deck/output/slides_standalone/template_template_medium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standalone_slides.py" TargetMode="External"/><Relationship Id="rId3" Type="http://schemas.openxmlformats.org/officeDocument/2006/relationships/image" Target="../media/image34.png"/><Relationship Id="rId4" Type="http://schemas.openxmlformats.org/officeDocument/2006/relationships/hyperlink" Target="https://github.com/docxology/template/blob/main/projects/templates/template_pitch_deck/output/slides_standalone/template_template_medium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35.png"/><Relationship Id="rId4" Type="http://schemas.openxmlformats.org/officeDocument/2006/relationships/hyperlink" Target="https://github.com/docxology/template/blob/main/projects/templates/template_pitch_deck/output/slides_standalone/template_template_medium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github.com/docxology/template/blob/main/projects/templates/template_pitch_deck/output/slides_standalone/template_template_medium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infra_facts.py" TargetMode="External"/><Relationship Id="rId3" Type="http://schemas.openxmlformats.org/officeDocument/2006/relationships/image" Target="../media/image37.png"/><Relationship Id="rId4" Type="http://schemas.openxmlformats.org/officeDocument/2006/relationships/hyperlink" Target="https://github.com/docxology/template/blob/main/projects/templates/template_pitch_deck/output/slides_standalone/template_template_medium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hyperlink" Target="https://github.com/docxology/template/blob/main/projects/templates/template_pitch_deck/src/template_pitch_deck/infra_facts.py" TargetMode="External"/><Relationship Id="rId4" Type="http://schemas.openxmlformats.org/officeDocument/2006/relationships/image" Target="../media/image39.png"/><Relationship Id="rId5" Type="http://schemas.openxmlformats.org/officeDocument/2006/relationships/hyperlink" Target="https://github.com/docxology/template/blob/main/projects/templates/template_pitch_deck/output/slides_standalone/template_template_medium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hyperlink" Target="https://github.com/docxology/template/blob/main/projects/templates/template_pitch_deck/output/slides_standalone/template_template_medium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hyperlink" Target="https://github.com/docxology/template/blob/main/projects/templates/template_pitch_deck/output/slides_standalone/template_template_medium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hyperlink" Target="https://github.com/docxology/template/blob/main/projects/templates/template_pitch_deck/output/slides_standalone/template_template_medium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https://github.com/docxology/template/blob/main/projects/templates/template_pitch_deck/output/slides_standalone/template_template_medium/slide_37.md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4.png"/><Relationship Id="rId4" Type="http://schemas.openxmlformats.org/officeDocument/2006/relationships/hyperlink" Target="https://github.com/docxology/template/blob/main/projects/templates/template_pitch_deck/output/slides_standalone/template_template_medium/slide_38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Research groups publish claims about their own tools and pipelines that no</a:t>
            </a:r>
            <a:br/>
            <a:r>
              <a:t>one outside the team can re-check.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Manuscripts describing infrastructure go stale the moment the infrastructure</a:t>
            </a:r>
            <a:br/>
            <a:r>
              <a:t>changes underneath them.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Reproducibility efforts usually stop at the data and code layer — the</a:t>
            </a:r>
            <a:br/>
            <a:r>
              <a:t>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Electronic lab notebooks and preregistration platforms address the experiment</a:t>
            </a:r>
            <a:br/>
            <a:r>
              <a:t>layer, not the infrastructure-description layer.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Literate-programming tools (R Markdown, Jupyter, Quarto) bind prose to code</a:t>
            </a:r>
            <a:br/>
            <a:r>
              <a:t>within one document, but rarely to a whole repository's live state.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Very few public examples exist of a manuscript that introspects and reports on</a:t>
            </a:r>
            <a:br/>
            <a:r>
              <a:t>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manuscript that is generated FROM the repository it describes, not written</a:t>
            </a:r>
            <a:br/>
            <a:r>
              <a:t>ABOUT it from memory.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metric in the paper — module counts, test counts, pipeline stages — is</a:t>
            </a:r>
            <a:br/>
            <a:r>
              <a:t>computed live by template_template's own introspection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One of 25 public exemplar templates in the same monorepo, each</a:t>
            </a:r>
            <a:br/>
            <a:r>
              <a:t>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src/template_template/core/introspection.py discovers infrastructure/</a:t>
            </a:r>
            <a:br/>
            <a:r>
              <a:t>subpackages, the pipeline.yaml stage DAG, and the public exemplar roster.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scan reads the filesystem and YAML directly — it does not depend on any</a:t>
            </a:r>
            <a:br/>
            <a:r>
              <a:t>external service or cached snapshot.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Function-level entry points (discover_infrastructure_modules,</a:t>
            </a:r>
            <a:br/>
            <a:r>
              <a:t>discover_projects, load_pipeline_stages_from_yaml) each return typed, testable</a:t>
            </a:r>
            <a:br/>
            <a:r>
              <a:t>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Metrics and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metrics.py turns the introspection scan into a dictionary of ${variable} values —</a:t>
            </a:r>
            <a:br/>
            <a:r>
              <a:t>the same token convention used across every exemplar's manuscript.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inject_metrics.py substitutes those values into manuscript/*.md, writing the</a:t>
            </a:r>
            <a:br/>
            <a:r>
              <a:t>resolved text to output/manuscript/ for rendering.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Re-running the pipeline regenerates the paper from current repository state —</a:t>
            </a:r>
            <a:br/>
            <a:r>
              <a:t>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Four figures — architecture overview, pipeline stages, module inventory,</a:t>
            </a:r>
            <a:br/>
            <a:r>
              <a:t>comparative feature matrix — are generated from the same live data, not</a:t>
            </a:r>
            <a:br/>
            <a:r>
              <a:t>hand-drawn.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generate_architecture_viz.py orchestrates dedicated figure modules sharing</a:t>
            </a:r>
            <a:br/>
            <a:r>
              <a:t>one palette module, so the visual language stays consistent across all four.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875" y="914400"/>
            <a:ext cx="2986249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3946"/>
            <a:ext cx="8138159" cy="2296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6800" b="1">
                <a:solidFill>
                  <a:srgbClr val="B3131A"/>
                </a:solidFill>
                <a:latin typeface="Helvetica"/>
              </a:rPr>
              <a:t>161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95.55%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 partial credit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1167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90% project-coverage floor and a no-mocks testing policy apply to this project</a:t>
            </a:r>
            <a:br/>
            <a:r>
              <a:t>exactly as they do across all 25 exemplars.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pipeline run either passes its own gate or fails loudly — there is no</a:t>
            </a:r>
            <a:br/>
            <a:r>
              <a:t>partial-credit reporting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4885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Concept DOI 10.5281/zenodo.20419007. Intended v2.0.0 is unreleased.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Prior v1.0.9 has 9 historical references: Zenodo, GitHub, PyPI (sandbox),</a:t>
            </a:r>
            <a:br/>
            <a:r>
              <a:t>IPFS, Software Heritage, GitHub Pages, Netlify, Hugging Face, OSF.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Licensed Apache-2.0 — the introspection code, not only the prose, is available</a:t>
            </a:r>
            <a:br/>
            <a:r>
              <a:t>for a science-integrity team to audit directly at docxology/template_template.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61175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projects/templates/ holds all 25 public exemplars: template_active_inference,</a:t>
            </a:r>
            <a:br/>
            <a:r>
              <a:t>template_advanced_literature_review, template_autopoiesis,</a:t>
            </a:r>
            <a:br/>
            <a:r>
              <a:t>template_autoresearch_project, template_autoscientists,</a:t>
            </a:r>
            <a:br/>
            <a:r>
              <a:t>template_code_project, template_data_descriptor, template_eda_notebook,</a:t>
            </a:r>
            <a:br/>
            <a:r>
              <a:t>template_experiment_tree, template_formal, template_gold_refinement,</a:t>
            </a:r>
            <a:br/>
            <a:r>
              <a:t>template_literature_meta_analysis, template_madlib, template_methods_paper,</a:t>
            </a:r>
            <a:br/>
            <a:r>
              <a:t>template_newspaper, template_pitch_deck, template_pools_rules_tools,</a:t>
            </a:r>
            <a:br/>
            <a:r>
              <a:t>template_prose_project, template_redacted_report, template_registered_report,</a:t>
            </a:r>
            <a:br/>
            <a:r>
              <a:t>template_search_project, template_sia, template_storybook, template_template,</a:t>
            </a:r>
            <a:br/>
            <a:r>
              <a:t>template_textbook.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One contract across all public exemplars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6501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template_active_inference is called out here only as one concrete instance to</a:t>
            </a:r>
            <a:br/>
            <a:r>
              <a:t>point to — every name in that list is an independently-built exemplar following</a:t>
            </a:r>
            <a:br/>
            <a:r>
              <a:t>the identical two-layer architecture, not a hand-picked best case.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Neither exemplar's coverage gate or drift check required any special-casing to</a:t>
            </a:r>
            <a:br/>
            <a:r>
              <a:t>add — the contract is uniform across all 25 projects, and the folder itself is the</a:t>
            </a:r>
            <a:br/>
            <a:r>
              <a:t>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Two-layer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Layer 1 (infrastructure/): generic, reusable — rendering, validation, publishing,</a:t>
            </a:r>
            <a:br/>
            <a:r>
              <a:t>provenance, testing utilities.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Layer 2 (projects/{name}/src/): domain-specific — each exemplar's own</a:t>
            </a:r>
            <a:br/>
            <a:r>
              <a:t>algorithms, kept out of infrastructure/ by convention and enforced by drift</a:t>
            </a:r>
            <a:br/>
            <a:r>
              <a:t>checks.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scripts (projects/{name}/scripts/) coordinate the two layers</a:t>
            </a:r>
            <a:br/>
            <a:r>
              <a:t>but implement no business logic themselves.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Governance and confidentiality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1167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Only projects/templates/ is public and CI-gated; private working projects render</a:t>
            </a:r>
            <a:br/>
            <a:r>
              <a:t>locally through the same pipeline without ever being tracked.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dedicated audit (scripts/audit/check_tracked_all.py) fails CI if any private</a:t>
            </a:r>
            <a:br/>
            <a:r>
              <a:t>project path is accidentally committed.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testing policy, CI-enforced: scripts/audit/verify_no_mocks.py fails</a:t>
            </a:r>
            <a:br/>
            <a:r>
              <a:t>the build if any test imports MagicMock, mocker.patch, or unittest.mock — a</a:t>
            </a:r>
            <a:br/>
            <a:r>
              <a:t>checked gate, not a style preference.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floors are enforced per project (90%) and for shared infrastructure</a:t>
            </a:r>
            <a:br/>
            <a:r>
              <a:t>(60%), not averaged away across the monorepo.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byte-level reproducibility invariant: two renders of identical content in the</a:t>
            </a:r>
            <a:br/>
            <a:r>
              <a:t>same environment produce an identical PDF — verified by a real, passing test,</a:t>
            </a:r>
            <a:br/>
            <a:r>
              <a:t>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integrity stack, gate by gate</a:t>
            </a:r>
          </a:p>
        </p:txBody>
      </p:sp>
      <p:pic>
        <p:nvPicPr>
          <p:cNvPr id="4" name="Picture 3" descr="integrity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463" y="914400"/>
            <a:ext cx="5379072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projects/templates/template_pitch_deck/src/template_pitch_deck/token_resolution.py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one of 25 public exemplars is measured independently, not summarized</a:t>
            </a:r>
            <a:br/>
            <a:r>
              <a:t>into one repo-wide percentage.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chart on the next slide is generated from the same</a:t>
            </a:r>
            <a:br/>
            <a:r>
              <a:t>docs/_generated/COUNTS.md factsheet this deck's own 95.55% figure comes</a:t>
            </a:r>
            <a:br/>
            <a:r>
              <a:t>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3992" y="914400"/>
            <a:ext cx="4696015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572" y="914400"/>
            <a:ext cx="472885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8220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src/token_resolution.py fails the build on any unresolved double-curly-brace</a:t>
            </a:r>
            <a:br/>
            <a:r>
              <a:t>placeholder — the same discipline this slide's own template_template token was</a:t>
            </a:r>
            <a:br/>
            <a:r>
              <a:t>resolved by.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src/cliche_lint.py and src/diligence_audit.py both run inside</a:t>
            </a:r>
            <a:br/>
            <a:r>
              <a:t>render_orchestration.py itself, before that deck length's own PDF/PPTX is</a:t>
            </a:r>
            <a:br/>
            <a:r>
              <a:t>written — a slide referencing a live-sourced token with no citation blocks that</a:t>
            </a:r>
            <a:br/>
            <a:r>
              <a:t>length's render, it does not just fail a separate, skippable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checks are generic infrastructure — they are this project's own</a:t>
            </a:r>
            <a:br/>
            <a:r>
              <a:t>src/, built specifically because a pitch deck is exactly the kind of document that</a:t>
            </a:r>
            <a:br/>
            <a:r>
              <a:t>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slide in this deck carries its own QR code, linking to a standalone, real</a:t>
            </a:r>
            <a:br/>
            <a:r>
              <a:t>Markdown page for that exact slide under output/slides_standalone/.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Once this output/ directory is committed and pushed, a photo of a projected or</a:t>
            </a:r>
            <a:br/>
            <a:r>
              <a:t>printed slide can be traced back to its precise source page on GitHub — not just</a:t>
            </a:r>
            <a:br/>
            <a:r>
              <a:t>to the deck as a whole. Locally, the generated page already exists; the QR only</a:t>
            </a:r>
            <a:br/>
            <a:r>
              <a:t>resolves once it is actually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Mechanically, this is the same source-citation system with one more hop: a</a:t>
            </a:r>
            <a:br/>
            <a:r>
              <a:t>citation links out to evidence; the QR links to the slide's own generated page,</a:t>
            </a:r>
            <a:br/>
            <a:r>
              <a:t>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pitch deck is its own exemplar in the same monorepo — it has its own</a:t>
            </a:r>
            <a:br/>
            <a:r>
              <a:t>src/, tests, and citable identity, distinct from the DOI of template_template, the</a:t>
            </a:r>
            <a:br/>
            <a:r>
              <a:t>project it pitches.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DOI: 10.5281/zenodo.21281509.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That status is read live from this project's own manuscript/config.yaml at</a:t>
            </a:r>
            <a:br/>
            <a:r>
              <a:t>render time — the moment a real Zenodo deposit is recorded there, this slide's</a:t>
            </a:r>
            <a:br/>
            <a:r>
              <a:t>own text updates on the next regeneration, the same way every other fact in this</a:t>
            </a:r>
            <a:br/>
            <a:r>
              <a:t>deck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9272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28 importable subpackages, 1351 tracked Python files total under</a:t>
            </a:r>
            <a:br/>
            <a:r>
              <a:t>infrastructure/ — a real inventory anyone can `git ls-files` themselves, not a</a:t>
            </a:r>
            <a:br/>
            <a:r>
              <a:t>claimed abstraction.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largest single subpackage, reporting, holds 411 files — still a minority of</a:t>
            </a:r>
            <a:br/>
            <a:r>
              <a:t>the whole, not a monolith wearing a modular label.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this slide is computed live by src/infra_facts.py at render</a:t>
            </a:r>
            <a:br/>
            <a:r>
              <a:t>time, reusing the exact same counters docs/_generated/COUNTS.md is built</a:t>
            </a:r>
            <a:br/>
            <a:r>
              <a:t>from.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next chart narrows the total to importable subpackages, excluding 3</a:t>
            </a:r>
            <a:br/>
            <a:r>
              <a:t>top-level Python file(s).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357" y="914400"/>
            <a:ext cx="341528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Extend token-sourced facts beyond one pitch subject to any exemplar in the</a:t>
            </a:r>
            <a:br/>
            <a:r>
              <a:t>roster, so a new deck for a different project needs only new content YAML, not</a:t>
            </a:r>
            <a:br/>
            <a:r>
              <a:t>new code.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Add a second validated pitch (a broader meta-science-group deck) reusing the</a:t>
            </a:r>
            <a:br/>
            <a:r>
              <a:t>same rendering and audit pipeline.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Track deck-generation coverage and drift in the same CI gates that already</a:t>
            </a:r>
            <a:br/>
            <a:r>
              <a:t>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Adopt this pattern for your own methods papers: bind every reported number</a:t>
            </a:r>
            <a:br/>
            <a:r>
              <a:t>to the code that produced it, not to a hand-typed table.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Pilot it on one existing manuscript in your group before committing to a full</a:t>
            </a:r>
            <a:br/>
            <a:r>
              <a:t>rewrite.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Happy to pair with your team through a first regeneration cycle and help define</a:t>
            </a:r>
            <a:br/>
            <a:r>
              <a:t>your own introspection surface, if useful — no prior engagements to point to yet,</a:t>
            </a:r>
            <a:br/>
            <a:r>
              <a:t>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code itself is available to adopt directly today — real, tested, and licensed</a:t>
            </a:r>
            <a:br/>
            <a:r>
              <a:t>for reuse, no engagement required to start.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funding conversations for a dedicated integration (a new pitch subject,</a:t>
            </a:r>
            <a:br/>
            <a:r>
              <a:t>a distinct theme, a deeper introspection surface) — no such engagement exists</a:t>
            </a:r>
            <a:br/>
            <a:r>
              <a:t>yet, this is an invitation to scope one, not an established program.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scoping a consulting engagement on request — pairing through a first</a:t>
            </a:r>
            <a:br/>
            <a:r>
              <a:t>regeneration cycle, or adapting the two-layer architecture to an existing</a:t>
            </a:r>
            <a:br/>
            <a:r>
              <a:t>codebase outside this monorepo. No such engagement has happened yet; this</a:t>
            </a:r>
            <a:br/>
            <a:r>
              <a:t>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