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medium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medium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medium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medium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5.png"/><Relationship Id="rId4" Type="http://schemas.openxmlformats.org/officeDocument/2006/relationships/hyperlink" Target="https://github.com/docxology/template/blob/main/projects/templates/template_pitch_deck/output/slides_standalone/template_template_medium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6.png"/><Relationship Id="rId4" Type="http://schemas.openxmlformats.org/officeDocument/2006/relationships/hyperlink" Target="https://github.com/docxology/template/blob/main/projects/templates/template_pitch_deck/output/slides_standalone/template_template_medium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docxology/template/blob/main/projects/templates/template_pitch_deck/output/slides_standalone/template_template_medium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docxology/template/blob/main/projects/templates/template_pitch_deck/output/slides_standalone/template_template_medium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medium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medium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github.com/docxology/template/blob/main/projects/templates/template_pitch_deck/output/slides_standalone/template_template_medium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github.com/docxology/template/blob/main/projects/templates/template_pitch_deck/output/slides_standalone/template_template_medium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docxology/template/blob/main/projects/templates/template_pitch_deck/output/slides_standalone/template_template_medium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16.png"/><Relationship Id="rId4" Type="http://schemas.openxmlformats.org/officeDocument/2006/relationships/hyperlink" Target="https://github.com/docxology/template/blob/main/projects/templates/template_pitch_deck/output/slides_standalone/template_template_medium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17.png"/><Relationship Id="rId4" Type="http://schemas.openxmlformats.org/officeDocument/2006/relationships/hyperlink" Target="https://github.com/docxology/template/blob/main/projects/templates/template_pitch_deck/output/slides_standalone/template_template_medium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18.png"/><Relationship Id="rId4" Type="http://schemas.openxmlformats.org/officeDocument/2006/relationships/hyperlink" Target="https://github.com/docxology/template/blob/main/projects/templates/template_pitch_deck/output/slides_standalone/template_template_medium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medium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medium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medium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medium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github.com/docxology/template/blob/main/projects/templates/template_pitch_deck/output/slides_standalone/template_template_medium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medium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hyperlink" Target="https://github.com/docxology/template/blob/main/projects/templates/template_pitch_deck/src/token_resolution.py" TargetMode="External"/><Relationship Id="rId4" Type="http://schemas.openxmlformats.org/officeDocument/2006/relationships/image" Target="../media/image26.png"/><Relationship Id="rId5" Type="http://schemas.openxmlformats.org/officeDocument/2006/relationships/hyperlink" Target="https://github.com/docxology/template/blob/main/projects/templates/template_pitch_deck/output/slides_standalone/template_template_medium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7.png"/><Relationship Id="rId4" Type="http://schemas.openxmlformats.org/officeDocument/2006/relationships/hyperlink" Target="https://github.com/docxology/template/blob/main/projects/templates/template_pitch_deck/output/slides_standalone/template_template_medium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29.png"/><Relationship Id="rId5" Type="http://schemas.openxmlformats.org/officeDocument/2006/relationships/hyperlink" Target="https://github.com/docxology/template/blob/main/projects/templates/template_pitch_deck/output/slides_standalone/template_template_medium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1.png"/><Relationship Id="rId5" Type="http://schemas.openxmlformats.org/officeDocument/2006/relationships/hyperlink" Target="https://github.com/docxology/template/blob/main/projects/templates/template_pitch_deck/output/slides_standalone/template_template_medium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32.png"/><Relationship Id="rId4" Type="http://schemas.openxmlformats.org/officeDocument/2006/relationships/hyperlink" Target="https://github.com/docxology/template/blob/main/projects/templates/template_pitch_deck/output/slides_standalone/template_template_medium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standalone_slides.py" TargetMode="External"/><Relationship Id="rId3" Type="http://schemas.openxmlformats.org/officeDocument/2006/relationships/image" Target="../media/image33.png"/><Relationship Id="rId4" Type="http://schemas.openxmlformats.org/officeDocument/2006/relationships/hyperlink" Target="https://github.com/docxology/template/blob/main/projects/templates/template_pitch_deck/output/slides_standalone/template_template_medium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34.png"/><Relationship Id="rId4" Type="http://schemas.openxmlformats.org/officeDocument/2006/relationships/hyperlink" Target="https://github.com/docxology/template/blob/main/projects/templates/template_pitch_deck/output/slides_standalone/template_template_medium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github.com/docxology/template/blob/main/projects/templates/template_pitch_deck/output/slides_standalone/template_template_medium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infra_facts.py" TargetMode="External"/><Relationship Id="rId3" Type="http://schemas.openxmlformats.org/officeDocument/2006/relationships/image" Target="../media/image36.png"/><Relationship Id="rId4" Type="http://schemas.openxmlformats.org/officeDocument/2006/relationships/hyperlink" Target="https://github.com/docxology/template/blob/main/projects/templates/template_pitch_deck/output/slides_standalone/template_template_medium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hyperlink" Target="https://github.com/docxology/template/blob/main/projects/templates/template_pitch_deck/src/infra_facts.py" TargetMode="External"/><Relationship Id="rId4" Type="http://schemas.openxmlformats.org/officeDocument/2006/relationships/image" Target="../media/image38.png"/><Relationship Id="rId5" Type="http://schemas.openxmlformats.org/officeDocument/2006/relationships/hyperlink" Target="https://github.com/docxology/template/blob/main/projects/templates/template_pitch_deck/output/slides_standalone/template_template_medium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hyperlink" Target="https://github.com/docxology/template/blob/main/projects/templates/template_pitch_deck/output/slides_standalone/template_template_medium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hyperlink" Target="https://github.com/docxology/template/blob/main/projects/templates/template_pitch_deck/output/slides_standalone/template_template_medium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https://github.com/docxology/template/blob/main/projects/templates/template_pitch_deck/output/slides_standalone/template_template_medium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hyperlink" Target="https://github.com/docxology/template/blob/main/projects/templates/template_pitch_deck/output/slides_standalone/template_template_medium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3.png"/><Relationship Id="rId4" Type="http://schemas.openxmlformats.org/officeDocument/2006/relationships/hyperlink" Target="https://github.com/docxology/template/blob/main/projects/templates/template_pitch_deck/output/slides_standalone/template_template_medium/slide_37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Research groups publish claims about their own tools and pipelines that no one outside the team can re-check.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Manuscripts describing infrastructure go stale the moment the infrastructure changes underneath them.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Reproducibility efforts usually stop at the data and code layer — the 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Electronic lab notebooks and preregistration platforms address the experiment layer, not the infrastructure-description layer.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Literate-programming tools (R Markdown, Jupyter, Quarto) bind prose to code within one document, but rarely to a whole repository's live state.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Very few public examples exist of a manuscript that introspects and reports on 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manuscript that is generated FROM the repository it describes, not written ABOUT it from memory.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metric in the paper — module counts, test counts, pipeline stages — is computed live by template_template's own introspection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One of 23 public exemplar templates in the same monorepo, each 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src/template_template/introspection.py discovers infrastructure/ subpackages, the pipeline.yaml stage DAG, and the public exemplar roster.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scan reads the filesystem and YAML directly — it does not depend on any external service or cached snapshot.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Function-level entry points (discover_infrastructure_modules, discover_projects, load_pipeline_stages_from_yaml) each return typed, testable 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Metrics and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metrics.py turns the introspection scan into a dictionary of ${variable} values — the same token convention used across every exemplar's manuscript.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inject_metrics.py substitutes those values into manuscript/*.md, writing the resolved text to output/manuscript/ for rendering.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Re-running the pipeline regenerates the paper from current repository state — 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Four figures — architecture overview, pipeline stages, module inventory, comparative feature matrix — are generated from the same live data, not hand-drawn.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generate_architecture_viz.py orchestrates dedicated figure modules sharing one palette module, so the visual language stays consistent across all four.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8366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20639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130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99.37%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No partial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90% project-coverage floor and a no-mocks testing policy apply to this project exactly as they do to the 23 other exemplars.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pipeline run either passes its own gate or fails loudly — there is no partial-credit reporting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Concept DOI 10.5281/zenodo.20419007, with a version-specific Zenodo deposit for the current release.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9 durable publication records on file: Zenodo, GitHub, PyPI (sandbox), IPFS, Software Heritage, GitHub Pages, Netlify, Hugging Face, OSF.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Licensed Apache-2.0 — the introspection code, not only the prose, is available for a science-integrity team to audit directly at docxology/template_template.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300" b="1">
                <a:solidFill>
                  <a:srgbClr val="FFFFFF"/>
                </a:solidFill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projects/templates/ holds all 23 public exemplars: template_active_inference, template_autopoiesis, template_autoresearch_project, template_autoscientists, template_code_project, template_data_descriptor, template_eda_notebook, template_formal, template_gold_refinement, template_literature_meta_analysis, template_madlib, template_methods_paper, template_newspaper, template_pitch_deck, template_pools_rules_tools, template_prose_project, template_redacted_report, template_registered_report, template_search_project, template_sia, template_storybook, template_template, template_textbook.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template_active_inference is called out here only as one concrete instance to point to — every name in that list is an independently-built exemplar following the identical two-layer architecture, not a hand-picked best case.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Neither exemplar's coverage gate or drift check required any special-casing to add — the contract is uniform across all 23 projects, and the folder itself is the 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Two-layer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Layer 1 (infrastructure/): generic, reusable — rendering, validation, publishing, provenance, testing utilities.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Layer 2 (projects/{name}/src/): domain-specific — each exemplar's own algorithms, kept out of infrastructure/ by convention and enforced by drift checks.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Thin orchestrator scripts (projects/{name}/scripts/) coordinate the two layers but implement no business logic themselves.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Governance and confidentiality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Only projects/templates/ is public and CI-gated; private working projects render locally through the same pipeline without ever being tracked.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dedicated audit (scripts/audit/check_tracked_all.py) fails CI if any private project path is accidentally committed.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0A0A0A"/>
                </a:solidFill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No-mocks testing policy, CI-enforced: scripts/audit/verify_no_mocks.py fails the build if any test imports MagicMock, mocker.patch, or unittest.mock — a checked gate, not a style preference.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floors are enforced per project (90%) and for shared infrastructure (60%), not averaged away across the monorepo.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byte-level reproducibility invariant: two renders of identical content in the same environment produce an identical PDF — verified by a real, passing test, 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46445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one of 23 public exemplars is measured independently, not summarized into one repo-wide percentage.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is generated from the same docs/_generated/COUNTS.md factsheet this deck's own 99.37% figure comes 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48945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528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src/token_resolution.py fails the build on any unresolved double-curly-brace placeholder — the same discipline this slide's own template_template token was resolved by.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src/cliche_lint.py and src/diligence_audit.py both run inside render_orchestration.py itself, before that deck length's own PDF/PPTX is written — a slide referencing a live-sourced token with no citation blocks that length's render, it does not just fail a separate, skippable 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None of these checks are generic infrastructure — they are this project's own src/, built specifically because a pitch deck is exactly the kind of document that 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slide in this deck carries its own QR code, linking to a standalone, real Markdown page for that exact slide under output/slides_standalone/.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Once this output/ directory is committed and pushed, a photo of a projected or printed slide can be traced back to its precise source page on GitHub — not just to the deck as a whole. Locally, the generated page already exists; the QR only resolves once it is actually published.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Mechanically, this is the same source-citation system with one more hop: a citation links out to evidence; the QR links to the slide's own generated page, 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pitch deck is its own exemplar in the same monorepo — it has its own src/, tests, and citable identity, distinct from the DOI of template_template, the project it pitches.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DOI: 10.5281/zenodo.21281509.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That status is read live from this project's own manuscript/config.yaml at render time — the moment a real Zenodo deposit is recorded there, this slide's own text updates on the next regeneration, the same way every other fact in this deck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A0A0A"/>
                </a:solidFill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25 importable subpackages, 673 tracked Python files total under infrastructure/ — a real inventory anyone can `git ls-files` themselves, not a claimed abstraction.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largest single subpackage, core, holds 112 files — still a minority of the whole, not a monolith wearing a modular label.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number on this slide is computed live by src/infra_facts.py at render time, reusing the exact same counters docs/_generated/COUNTS.md is built from.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shows a slightly narrower total — it only counts files inside an importable subpackage, excluding 2 top-level file(s) (infrastructure/__init__.py, mcp_server.py) that do not belong to any subpackage.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7315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Extend token-sourced facts beyond one pitch subject to any exemplar in the roster, so a new deck for a different project needs only new content YAML, not new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Add a second validated pitch (a broader meta-science-group deck) reusing the same rendering and audit pipeline.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Track deck-generation coverage and drift in the same CI gates that already 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Adopt this pattern for your own methods papers: bind every reported number to the code that produced it, not to a hand-typed table.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Pilot it on one existing manuscript in your group before committing to a full rewrite.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Happy to pair with your team through a first regeneration cycle and help define your own introspection surface, if useful — no prior engagements to point to yet, 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code itself is available to adopt directly today — real, tested, and licensed for reuse, no engagement required to start.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funding conversations for a dedicated integration (a new pitch subject, a distinct theme, a deeper introspection surface) — no such engagement exists yet, this is an invitation to scope one, not an established program.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scoping a consulting engagement on request — pairing through a first regeneration cycle, or adapting the two-layer architecture to an existing codebase outside this monorepo. No such engagement has happened yet; this 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